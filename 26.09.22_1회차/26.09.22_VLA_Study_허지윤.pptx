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9" r:id="rId1"/>
  </p:sldMasterIdLst>
  <p:notesMasterIdLst>
    <p:notesMasterId r:id="rId30"/>
  </p:notesMasterIdLst>
  <p:sldIdLst>
    <p:sldId id="256" r:id="rId2"/>
    <p:sldId id="328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5" r:id="rId21"/>
    <p:sldId id="354" r:id="rId22"/>
    <p:sldId id="357" r:id="rId23"/>
    <p:sldId id="356" r:id="rId24"/>
    <p:sldId id="359" r:id="rId25"/>
    <p:sldId id="360" r:id="rId26"/>
    <p:sldId id="358" r:id="rId27"/>
    <p:sldId id="361" r:id="rId28"/>
    <p:sldId id="362" r:id="rId29"/>
  </p:sldIdLst>
  <p:sldSz cx="12192000" cy="6858000"/>
  <p:notesSz cx="6858000" cy="9144000"/>
  <p:embeddedFontLst>
    <p:embeddedFont>
      <p:font typeface="Noto Sans KR" panose="020B0200000000000000" pitchFamily="50" charset="-127"/>
      <p:regular r:id="rId31"/>
      <p:bold r:id="rId32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8" autoAdjust="0"/>
    <p:restoredTop sz="94660"/>
  </p:normalViewPr>
  <p:slideViewPr>
    <p:cSldViewPr snapToGrid="0">
      <p:cViewPr varScale="1">
        <p:scale>
          <a:sx n="83" d="100"/>
          <a:sy n="83" d="100"/>
        </p:scale>
        <p:origin x="41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F6A4D-F27A-49B6-B862-606606CC6972}" type="datetimeFigureOut">
              <a:rPr lang="ko-KR" altLang="en-US" smtClean="0"/>
              <a:t>2026-09-26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F32B5-C8E0-4D32-A233-9CBA55F39C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16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32B5-C8E0-4D32-A233-9CBA55F39C2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232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84B97-E10C-AE63-395D-0F0FF3B0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33ECF1-EA22-8888-865B-5A133A2A5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CF2C69-E02A-53A3-B219-205764746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9B1136-779B-9326-F0E4-78276A209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32B5-C8E0-4D32-A233-9CBA55F39C2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770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53EDF-589A-4D42-DCF6-CE04F20A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1A2CB0-33E6-6786-3F8A-7FCB80468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69597C-26A6-BF98-6B19-94F8C7EBA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09B6A6-D025-5515-4D6E-B5A5DE5BB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32B5-C8E0-4D32-A233-9CBA55F39C2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56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07752-C1E5-72F1-5420-B0D7F61E5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961DB-E1A8-136E-5418-91FB5EA9F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A36C2D-F2F6-3562-CFF0-F8F0C2805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91D038-06AE-C7A6-EFC7-8FB450BA0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32B5-C8E0-4D32-A233-9CBA55F39C2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731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897A6-FD79-2E57-968D-AFF7E7B8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76FAD0-268F-49E3-7891-A149DAA1A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CDE52D-2227-E710-E0ED-D4CCF75DD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25F45B-BA0F-466D-5B9D-4DB47E25E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32B5-C8E0-4D32-A233-9CBA55F39C2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025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72A5A-126D-20BC-EDFB-F9637099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6320A5-BE94-0AF0-98BF-348A74A04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7F3985-D9DD-DB2E-1C1D-D9CAC75C4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0A2974-E735-5134-7FB6-EF3C63000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32B5-C8E0-4D32-A233-9CBA55F39C2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55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11E10-2E17-058C-E2AA-553215E95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617ACC-F07C-9181-FB89-0E24D2F30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72F9F6-CDE0-8339-A455-16F110A31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DC933E-AB80-5275-F86B-82ADC5244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32B5-C8E0-4D32-A233-9CBA55F39C2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360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E2AA5-4416-3B2D-F90D-056BA8865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608F0C-FDEC-1B20-B187-249754948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A8938F-0BE9-E203-BE9B-4FD5BA62E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62D07A-1FDE-B55C-A0B6-CC05B6E41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32B5-C8E0-4D32-A233-9CBA55F39C2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524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9CF8-745F-0178-34DC-E3ACABDD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A11ED7-CC23-54C5-7F74-8B394B4DC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1C66CC-EEE4-6494-5223-0D5B2A86B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D9341-4D58-7C08-7297-FBB7C477C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32B5-C8E0-4D32-A233-9CBA55F39C2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114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64E32-4561-3FDC-A2F0-3D3DC67D2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FC636D-3358-C974-97C3-35BCF120F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8CDDBE-044F-36A6-2872-29784E535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7A3FA1-1EA6-6C7A-683C-5B859A335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32B5-C8E0-4D32-A233-9CBA55F39C2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29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8F4B6-C467-80AC-1FC1-90EAB12AD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92122E-2CF3-E898-4A62-8315E870C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053003-8B86-E4F2-A181-195817D05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556810-6D91-B222-A905-ABC140319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32B5-C8E0-4D32-A233-9CBA55F39C2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250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DA897-4B5D-0C90-7C98-A1A0AB6D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D2436E-0D85-95DF-50ED-06C5D067E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E88DCA-67E0-AD0F-5BF7-0FE4895B5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3DA239-4F59-0C8A-5C58-6221DBAEB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32B5-C8E0-4D32-A233-9CBA55F39C2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74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03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703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141D72-DBC8-05DA-354C-DF6B920F34AB}"/>
              </a:ext>
            </a:extLst>
          </p:cNvPr>
          <p:cNvSpPr txBox="1"/>
          <p:nvPr userDrawn="1"/>
        </p:nvSpPr>
        <p:spPr>
          <a:xfrm>
            <a:off x="810129" y="293600"/>
            <a:ext cx="3378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2026.09.22</a:t>
            </a:r>
            <a:b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전공심화공동체</a:t>
            </a: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_VLA Study 1</a:t>
            </a:r>
            <a:r>
              <a:rPr lang="ko-KR" altLang="en-US" sz="16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회차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367FD0-CF7F-D590-02F4-40F714405BBA}"/>
              </a:ext>
            </a:extLst>
          </p:cNvPr>
          <p:cNvSpPr/>
          <p:nvPr userDrawn="1"/>
        </p:nvSpPr>
        <p:spPr>
          <a:xfrm>
            <a:off x="0" y="6594651"/>
            <a:ext cx="12192000" cy="263349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Picture 2" descr="UI | 세종대학교">
            <a:extLst>
              <a:ext uri="{FF2B5EF4-FFF2-40B4-BE49-F238E27FC236}">
                <a16:creationId xmlns:a16="http://schemas.microsoft.com/office/drawing/2014/main" id="{BCB61189-E2B4-2F01-1D6F-918BD5B53F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05" y="323851"/>
            <a:ext cx="524274" cy="52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16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1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jiyoonheo.notion.site/33dee86eebab8016bd52e0efab99821f?source=copy_link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138FBF6-2E92-A0FF-DB51-3E06873A8234}"/>
              </a:ext>
            </a:extLst>
          </p:cNvPr>
          <p:cNvSpPr txBox="1">
            <a:spLocks/>
          </p:cNvSpPr>
          <p:nvPr/>
        </p:nvSpPr>
        <p:spPr>
          <a:xfrm>
            <a:off x="241402" y="2819889"/>
            <a:ext cx="11704320" cy="178270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9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  <a:t>[2026.09.22(</a:t>
            </a:r>
            <a:r>
              <a:rPr lang="ko-KR" altLang="en-US" sz="29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  <a:t>화</a:t>
            </a:r>
            <a:r>
              <a:rPr lang="en-US" altLang="ko-KR" sz="29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  <a:t>) VLA Study]</a:t>
            </a:r>
          </a:p>
          <a:p>
            <a:b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</a:br>
            <a:r>
              <a:rPr lang="ko-KR" altLang="en-US" sz="3700" b="1" dirty="0"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  <a:t>스터디① </a:t>
            </a:r>
            <a:r>
              <a:rPr lang="en-US" altLang="ko-KR" sz="3700" b="1" dirty="0"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  <a:t>- VLA </a:t>
            </a:r>
            <a:r>
              <a:rPr lang="ko-KR" altLang="en-US" sz="3700" b="1" dirty="0">
                <a:latin typeface="Noto Sans KR" panose="020B0200000000000000" pitchFamily="50" charset="-127"/>
                <a:ea typeface="Noto Sans KR" panose="020B0200000000000000" pitchFamily="50" charset="-127"/>
                <a:cs typeface="Microsoft 고딕Neo" panose="020B0500000101010101" pitchFamily="50" charset="-127"/>
              </a:rPr>
              <a:t>개념 정립</a:t>
            </a:r>
            <a:endParaRPr lang="ko-KR" altLang="en-US" sz="4500" dirty="0">
              <a:latin typeface="Noto Sans KR" panose="020B0200000000000000" pitchFamily="50" charset="-127"/>
              <a:ea typeface="Noto Sans KR" panose="020B0200000000000000" pitchFamily="50" charset="-127"/>
              <a:cs typeface="Microsoft 고딕Neo" panose="020B0500000101010101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71B4FE1-C23A-C3BA-66A9-BFC984D305A7}"/>
              </a:ext>
            </a:extLst>
          </p:cNvPr>
          <p:cNvCxnSpPr>
            <a:cxnSpLocks/>
          </p:cNvCxnSpPr>
          <p:nvPr/>
        </p:nvCxnSpPr>
        <p:spPr>
          <a:xfrm>
            <a:off x="241402" y="4056498"/>
            <a:ext cx="11639661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부제목 2">
            <a:extLst>
              <a:ext uri="{FF2B5EF4-FFF2-40B4-BE49-F238E27FC236}">
                <a16:creationId xmlns:a16="http://schemas.microsoft.com/office/drawing/2014/main" id="{03F4DEFD-C94E-79BB-BADF-3EF848201532}"/>
              </a:ext>
            </a:extLst>
          </p:cNvPr>
          <p:cNvSpPr txBox="1">
            <a:spLocks/>
          </p:cNvSpPr>
          <p:nvPr/>
        </p:nvSpPr>
        <p:spPr>
          <a:xfrm>
            <a:off x="241402" y="4281222"/>
            <a:ext cx="9144000" cy="516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RT-1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논문 내용 정리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9D70E-A66C-5BF6-CD25-6D0B7FC2EED9}"/>
              </a:ext>
            </a:extLst>
          </p:cNvPr>
          <p:cNvSpPr txBox="1"/>
          <p:nvPr/>
        </p:nvSpPr>
        <p:spPr>
          <a:xfrm>
            <a:off x="10219985" y="6221968"/>
            <a:ext cx="189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23011935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허지윤</a:t>
            </a:r>
          </a:p>
        </p:txBody>
      </p:sp>
    </p:spTree>
    <p:extLst>
      <p:ext uri="{BB962C8B-B14F-4D97-AF65-F5344CB8AC3E}">
        <p14:creationId xmlns:p14="http://schemas.microsoft.com/office/powerpoint/2010/main" val="4272500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0C90F2-3A9C-7684-4385-153D462373EA}"/>
              </a:ext>
            </a:extLst>
          </p:cNvPr>
          <p:cNvSpPr txBox="1"/>
          <p:nvPr/>
        </p:nvSpPr>
        <p:spPr>
          <a:xfrm>
            <a:off x="329183" y="1132149"/>
            <a:ext cx="7946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EBC515D-32B2-31C1-41D5-D163CA769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25" y="1770804"/>
            <a:ext cx="6112431" cy="50871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C8DD8C-6D3D-CCCE-F661-45C8F6389624}"/>
              </a:ext>
            </a:extLst>
          </p:cNvPr>
          <p:cNvSpPr txBox="1"/>
          <p:nvPr/>
        </p:nvSpPr>
        <p:spPr>
          <a:xfrm>
            <a:off x="6699068" y="2052244"/>
            <a:ext cx="54929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저자: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Anthony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Brohan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Noah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Brown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Justice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Carbajal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외 48명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학회: RSS(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Robotics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Science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and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Systems) 2023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논문 배경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RL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 </a:t>
            </a:r>
            <a:r>
              <a:rPr lang="en-US" altLang="ko-KR" b="1" dirty="0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IL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한계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태스크별로 좁게 데이터 수집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태크스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간 상호작용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X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매번 수집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RL: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자율 수집 인프라 구축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IL: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사람 시연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⇒ 비용 문제 발생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제안 내용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규모 + 다양성 + 연결성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모델</a:t>
            </a:r>
            <a:br>
              <a:rPr lang="en-US" altLang="ko-KR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다양한 데이터를 흡수하기 위한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용량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•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실시간 제어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309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9AD8F-CFD4-2F16-37D8-0D06B9F06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0A172C-2CA3-4D8A-A9EB-657D62CE4705}"/>
              </a:ext>
            </a:extLst>
          </p:cNvPr>
          <p:cNvSpPr txBox="1"/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3202AC-30F0-F027-B697-4CD4CC4F8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723" y="1672191"/>
            <a:ext cx="6742553" cy="472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7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30D52-83FC-6873-39FE-02AEC28B5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AAED5D-9A26-24A7-164F-6970D6EAD5F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EDA293-8917-2EFB-D155-195E13951C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143" b="61646"/>
          <a:stretch>
            <a:fillRect/>
          </a:stretch>
        </p:blipFill>
        <p:spPr>
          <a:xfrm>
            <a:off x="822010" y="1593814"/>
            <a:ext cx="10547980" cy="284117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45A5E41-6ACD-0C7C-8343-0110FC472846}"/>
              </a:ext>
            </a:extLst>
          </p:cNvPr>
          <p:cNvSpPr/>
          <p:nvPr/>
        </p:nvSpPr>
        <p:spPr>
          <a:xfrm>
            <a:off x="757647" y="1645920"/>
            <a:ext cx="2775857" cy="28411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785DCBD3-89DE-BE2E-6107-DEB864DA6DCA}"/>
              </a:ext>
            </a:extLst>
          </p:cNvPr>
          <p:cNvCxnSpPr>
            <a:stCxn id="2" idx="2"/>
          </p:cNvCxnSpPr>
          <p:nvPr/>
        </p:nvCxnSpPr>
        <p:spPr>
          <a:xfrm rot="16200000" flipH="1">
            <a:off x="2303963" y="4328704"/>
            <a:ext cx="1071155" cy="1387928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AA94CCC-07D3-CAA0-2DA2-35DEDD70F8F5}"/>
              </a:ext>
            </a:extLst>
          </p:cNvPr>
          <p:cNvSpPr txBox="1"/>
          <p:nvPr/>
        </p:nvSpPr>
        <p:spPr>
          <a:xfrm>
            <a:off x="3533504" y="5096582"/>
            <a:ext cx="3948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입력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Instruction: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지시사항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u="sng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자연어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Images: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연속된 이미지 데이터</a:t>
            </a:r>
          </a:p>
        </p:txBody>
      </p:sp>
    </p:spTree>
    <p:extLst>
      <p:ext uri="{BB962C8B-B14F-4D97-AF65-F5344CB8AC3E}">
        <p14:creationId xmlns:p14="http://schemas.microsoft.com/office/powerpoint/2010/main" val="46700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E6BE0-25FE-31BA-3D23-1DE2AF8A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25CEE3-1EDD-0593-23BB-D0F5F804D1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F321D4-DC5A-3064-6FA3-46016FB262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-1" r="143" b="61646"/>
          <a:stretch>
            <a:fillRect/>
          </a:stretch>
        </p:blipFill>
        <p:spPr>
          <a:xfrm>
            <a:off x="822010" y="1593814"/>
            <a:ext cx="10547980" cy="284117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B800BF6-97FD-0B95-3196-40AAF53ACAD9}"/>
              </a:ext>
            </a:extLst>
          </p:cNvPr>
          <p:cNvSpPr/>
          <p:nvPr/>
        </p:nvSpPr>
        <p:spPr>
          <a:xfrm>
            <a:off x="3542211" y="1685109"/>
            <a:ext cx="5107575" cy="28411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3B78B2-A625-8311-F4C2-03DFB23F482E}"/>
              </a:ext>
            </a:extLst>
          </p:cNvPr>
          <p:cNvSpPr txBox="1"/>
          <p:nvPr/>
        </p:nvSpPr>
        <p:spPr>
          <a:xfrm>
            <a:off x="2438554" y="4841856"/>
            <a:ext cx="73148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[RT-1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 구조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EfficientNet+FiLM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자연어 명령어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이미지에서 현재 태스크와 가장 관련성이 높은 시각적 특징 추출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TokenLearner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연산 속도 증가 및 시각 정보 토큰 압축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Transformer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액션 토큰 출력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0BDFB30-EB21-A261-68D6-6D2F37309EE7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 flipH="1">
            <a:off x="6095998" y="4526280"/>
            <a:ext cx="1" cy="31557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06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4DD18-D0DD-855C-8AF8-6A29E1C72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BF5A49-01D2-05B4-C301-9102584DD0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01349C-ED73-5898-7A05-114AA00F06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-1" r="143" b="61646"/>
          <a:stretch>
            <a:fillRect/>
          </a:stretch>
        </p:blipFill>
        <p:spPr>
          <a:xfrm>
            <a:off x="822010" y="1593814"/>
            <a:ext cx="10547980" cy="28411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418761-7285-18FA-2CB0-9511EF1ADEE7}"/>
              </a:ext>
            </a:extLst>
          </p:cNvPr>
          <p:cNvSpPr txBox="1"/>
          <p:nvPr/>
        </p:nvSpPr>
        <p:spPr>
          <a:xfrm>
            <a:off x="2438554" y="4841856"/>
            <a:ext cx="73148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액션 토큰 기반 움직임 생성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(11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차원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로봇 팔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7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차원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(x, y, z, roll, pitch, yaw, gripper)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모바일 베이스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3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차원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 x, y, yaw)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상태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팔 제어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베이스 제어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에피소드 종료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CFC50C-C38C-A0C7-6125-92098DD00C64}"/>
              </a:ext>
            </a:extLst>
          </p:cNvPr>
          <p:cNvSpPr/>
          <p:nvPr/>
        </p:nvSpPr>
        <p:spPr>
          <a:xfrm>
            <a:off x="8732520" y="1645920"/>
            <a:ext cx="2637470" cy="28411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1D5DD041-E34D-EA47-A812-1419360E0700}"/>
              </a:ext>
            </a:extLst>
          </p:cNvPr>
          <p:cNvCxnSpPr>
            <a:cxnSpLocks/>
            <a:stCxn id="5" idx="2"/>
            <a:endCxn id="10" idx="3"/>
          </p:cNvCxnSpPr>
          <p:nvPr/>
        </p:nvCxnSpPr>
        <p:spPr>
          <a:xfrm rot="5400000">
            <a:off x="9355634" y="4884898"/>
            <a:ext cx="1093429" cy="297814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5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788ED-BAFE-9AD9-F838-BD8209BA7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F687E4-8B54-6BC8-BD82-4270FF3CB8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F29675-BDB2-6B11-D50A-81050BF526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16" r="142" b="14175"/>
          <a:stretch>
            <a:fillRect/>
          </a:stretch>
        </p:blipFill>
        <p:spPr>
          <a:xfrm>
            <a:off x="366925" y="1901789"/>
            <a:ext cx="11458144" cy="26320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900B9-9FE9-EFE8-C81F-CCA7F1A28410}"/>
              </a:ext>
            </a:extLst>
          </p:cNvPr>
          <p:cNvSpPr txBox="1"/>
          <p:nvPr/>
        </p:nvSpPr>
        <p:spPr>
          <a:xfrm>
            <a:off x="2438554" y="4946395"/>
            <a:ext cx="73148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규모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13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만 개 가량의 시연 데이터</a:t>
            </a:r>
            <a:b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13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대의 로봇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x 17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개월 간의 데이터 수집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700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 이상의 태스크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EBB982-37C7-90D2-26FD-75C983F9B191}"/>
              </a:ext>
            </a:extLst>
          </p:cNvPr>
          <p:cNvSpPr/>
          <p:nvPr/>
        </p:nvSpPr>
        <p:spPr>
          <a:xfrm>
            <a:off x="463730" y="1797249"/>
            <a:ext cx="3285309" cy="28411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CBB40987-4F18-9EF1-CB3B-D936885DF99E}"/>
              </a:ext>
            </a:extLst>
          </p:cNvPr>
          <p:cNvCxnSpPr>
            <a:cxnSpLocks/>
            <a:stCxn id="5" idx="2"/>
            <a:endCxn id="10" idx="1"/>
          </p:cNvCxnSpPr>
          <p:nvPr/>
        </p:nvCxnSpPr>
        <p:spPr>
          <a:xfrm rot="16200000" flipH="1">
            <a:off x="1818399" y="4926405"/>
            <a:ext cx="908140" cy="332169"/>
          </a:xfrm>
          <a:prstGeom prst="curved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301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423B-76DE-67D8-D184-E9166635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4DC17D-167B-83C8-F975-38FA717C9F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4FEBA8-B15E-8B55-42C6-0427B386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16" r="142" b="14175"/>
          <a:stretch>
            <a:fillRect/>
          </a:stretch>
        </p:blipFill>
        <p:spPr>
          <a:xfrm>
            <a:off x="366925" y="1901789"/>
            <a:ext cx="11458144" cy="26320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53FE4B-CE7B-F6E7-AFA2-E6B5B43712C6}"/>
              </a:ext>
            </a:extLst>
          </p:cNvPr>
          <p:cNvSpPr txBox="1"/>
          <p:nvPr/>
        </p:nvSpPr>
        <p:spPr>
          <a:xfrm>
            <a:off x="2112912" y="4985585"/>
            <a:ext cx="7966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배경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방해 요소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환경 변화에 대한 강건성 확보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배경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식탁 색깔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무늬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조도 등 변화가 생겨도 물건을 정확히 인식 및 잡기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방해물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목표 물건 주변에 상관없는 물건들이 잔뜩 흩어져 있을 때도 정확히 탐색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환경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다른 주방에서도 태스크를 수행할 수 있게 함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A507D9-3211-A6C6-4586-2F0C004F8496}"/>
              </a:ext>
            </a:extLst>
          </p:cNvPr>
          <p:cNvSpPr/>
          <p:nvPr/>
        </p:nvSpPr>
        <p:spPr>
          <a:xfrm>
            <a:off x="5362303" y="1911605"/>
            <a:ext cx="3102428" cy="262227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FD2A2F1E-87BB-98A2-817D-C65FEC93E7AA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rot="5400000">
            <a:off x="6278905" y="4350973"/>
            <a:ext cx="451704" cy="817520"/>
          </a:xfrm>
          <a:prstGeom prst="bent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231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7D673-5826-129E-0569-A5F851ADB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AA3A38-7C76-9E8B-1636-260A36E0D9D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C5B013-ABD7-90C8-8E40-28576F6853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53116" r="142" b="14175"/>
          <a:stretch>
            <a:fillRect/>
          </a:stretch>
        </p:blipFill>
        <p:spPr>
          <a:xfrm>
            <a:off x="366925" y="1901789"/>
            <a:ext cx="11458144" cy="26320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3D4506-FB32-FB80-62E4-932446A21B8C}"/>
              </a:ext>
            </a:extLst>
          </p:cNvPr>
          <p:cNvSpPr txBox="1"/>
          <p:nvPr/>
        </p:nvSpPr>
        <p:spPr>
          <a:xfrm>
            <a:off x="2112912" y="4985585"/>
            <a:ext cx="79661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길고 복잡한 연속 작업</a:t>
            </a:r>
            <a:b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여러 단계에 걸쳐 오랜 시간 동안 순차적으로 수행해야 하는 작업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다른 출처에서 온 데이터 학습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Ex)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시뮬레이션 데이터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다른 로봇이 수집한 데이터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71CA3A-54AE-45D6-6922-8015040280B2}"/>
              </a:ext>
            </a:extLst>
          </p:cNvPr>
          <p:cNvSpPr/>
          <p:nvPr/>
        </p:nvSpPr>
        <p:spPr>
          <a:xfrm>
            <a:off x="8451667" y="1911605"/>
            <a:ext cx="3219995" cy="262227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637D31BB-EFE5-9ABD-0120-10C978E76747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5400000">
            <a:off x="7852979" y="2776899"/>
            <a:ext cx="451704" cy="3965668"/>
          </a:xfrm>
          <a:prstGeom prst="bent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639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7D414-18A6-FDFA-3063-BD4E148CB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7852B1-2351-8599-7E47-7A5E655FEC6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BBD1D2-E93A-C933-C78C-97E3BA5C6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10" r="9083" b="26014"/>
          <a:stretch>
            <a:fillRect/>
          </a:stretch>
        </p:blipFill>
        <p:spPr>
          <a:xfrm>
            <a:off x="329183" y="1931936"/>
            <a:ext cx="7515063" cy="39273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22DD31-30DC-3030-A951-6BBA184606D8}"/>
              </a:ext>
            </a:extLst>
          </p:cNvPr>
          <p:cNvSpPr txBox="1"/>
          <p:nvPr/>
        </p:nvSpPr>
        <p:spPr>
          <a:xfrm>
            <a:off x="7844246" y="3122560"/>
            <a:ext cx="4236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학습 환경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부엌 환경을 모델링한 학습 환경 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여러 개의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조리대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두고 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방대한 양의 데이터 수집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부엌 환경: 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b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),(c)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학습 환경과 매우 유사하지만, 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빛, 배경, 배치나 구성요소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다름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901D7-6F71-8A8A-1C8D-1B39CDA8260B}"/>
              </a:ext>
            </a:extLst>
          </p:cNvPr>
          <p:cNvSpPr txBox="1"/>
          <p:nvPr/>
        </p:nvSpPr>
        <p:spPr>
          <a:xfrm>
            <a:off x="2112358" y="5725851"/>
            <a:ext cx="394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Figure 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AD55AA-C705-06FE-3000-77129DB1647B}"/>
              </a:ext>
            </a:extLst>
          </p:cNvPr>
          <p:cNvSpPr/>
          <p:nvPr/>
        </p:nvSpPr>
        <p:spPr>
          <a:xfrm>
            <a:off x="418011" y="1931936"/>
            <a:ext cx="7289075" cy="205876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849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A6CA4-82EB-E9C4-4856-9CBD0716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54CB8F-CC89-E93E-08FC-6FF2153EA4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CEDA0F-22E2-7772-318F-09A88B5A31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10" r="9083" b="26014"/>
          <a:stretch>
            <a:fillRect/>
          </a:stretch>
        </p:blipFill>
        <p:spPr>
          <a:xfrm>
            <a:off x="329183" y="1931936"/>
            <a:ext cx="7515063" cy="39273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17B9C7-F124-01FF-9F83-207FF7DAFE7E}"/>
              </a:ext>
            </a:extLst>
          </p:cNvPr>
          <p:cNvSpPr txBox="1"/>
          <p:nvPr/>
        </p:nvSpPr>
        <p:spPr>
          <a:xfrm>
            <a:off x="8011451" y="3236197"/>
            <a:ext cx="31808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사용된 로봇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Every Robots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자유도 로봇 팔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그리퍼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모바일 베이스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D1D50E-32B1-75D5-2611-E22EF01F88F0}"/>
              </a:ext>
            </a:extLst>
          </p:cNvPr>
          <p:cNvSpPr txBox="1"/>
          <p:nvPr/>
        </p:nvSpPr>
        <p:spPr>
          <a:xfrm>
            <a:off x="2112358" y="5725851"/>
            <a:ext cx="394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Figure 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5C4A06-69C4-EAF7-D3D5-CDC377F53C4B}"/>
              </a:ext>
            </a:extLst>
          </p:cNvPr>
          <p:cNvSpPr/>
          <p:nvPr/>
        </p:nvSpPr>
        <p:spPr>
          <a:xfrm>
            <a:off x="496388" y="3974861"/>
            <a:ext cx="2390503" cy="180545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789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AF11-8E62-ECD6-7C4A-E486C204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2358DF-3CD1-843C-B406-82734D212A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9FC9E6-DC9E-0C64-19A0-9398613265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10" r="9083" b="26014"/>
          <a:stretch>
            <a:fillRect/>
          </a:stretch>
        </p:blipFill>
        <p:spPr>
          <a:xfrm>
            <a:off x="329183" y="1931936"/>
            <a:ext cx="7515063" cy="39273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874E66-509F-1525-46E4-A15AE658AF36}"/>
              </a:ext>
            </a:extLst>
          </p:cNvPr>
          <p:cNvSpPr txBox="1"/>
          <p:nvPr/>
        </p:nvSpPr>
        <p:spPr>
          <a:xfrm>
            <a:off x="7843377" y="2586530"/>
            <a:ext cx="40194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학습 데이터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사람이 직접 시연한 데이터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에피소드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동작에 대한 설명 추가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텍스트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지시사항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동사와 명사 하나 이상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지시사항 그룹화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기술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동사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사물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명사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13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만 개의 개별 시연 데이터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*(e), (f):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학습에 사용된 사물 세트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35130A-F533-F025-7490-587B687BBBF1}"/>
              </a:ext>
            </a:extLst>
          </p:cNvPr>
          <p:cNvSpPr txBox="1"/>
          <p:nvPr/>
        </p:nvSpPr>
        <p:spPr>
          <a:xfrm>
            <a:off x="2112358" y="5725851"/>
            <a:ext cx="394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Figure 2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89BDD9-BFA7-79A0-94C1-34954BC92727}"/>
              </a:ext>
            </a:extLst>
          </p:cNvPr>
          <p:cNvSpPr/>
          <p:nvPr/>
        </p:nvSpPr>
        <p:spPr>
          <a:xfrm>
            <a:off x="2965268" y="4042954"/>
            <a:ext cx="4722223" cy="16828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498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DED97-BA24-5E41-1DD4-6D9E900F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15791C-21FB-8F73-D051-B9616223681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34DCB2-6F8E-426F-8558-F2BAF0AE6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233" y="1593814"/>
            <a:ext cx="2937835" cy="46144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A665F6-166E-A00F-9706-86A5AA3492B4}"/>
              </a:ext>
            </a:extLst>
          </p:cNvPr>
          <p:cNvSpPr txBox="1"/>
          <p:nvPr/>
        </p:nvSpPr>
        <p:spPr>
          <a:xfrm>
            <a:off x="1110233" y="6208268"/>
            <a:ext cx="2937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Figure 3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ED778-1FD6-D0E3-7385-2712250EC583}"/>
              </a:ext>
            </a:extLst>
          </p:cNvPr>
          <p:cNvSpPr txBox="1"/>
          <p:nvPr/>
        </p:nvSpPr>
        <p:spPr>
          <a:xfrm>
            <a:off x="5627226" y="2586530"/>
            <a:ext cx="566307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[RT-1]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대량의 데이터 처리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일반화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실시간 동작 출력 목표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입력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짧은 이미지 시퀀스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(6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장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자연어 명령어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지시사항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출력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시간 단계에서의 로봇 동작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토큰화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매니퓰레이터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7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차원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모바일 베이스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3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차원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상태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팔 제어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베이스 제어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에피소드 종료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6789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8E11-D653-D048-274B-4F2C03BCE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D552F2-A574-58DB-FCFF-710DD243677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112E69-6AAF-B21E-9AB6-F5D559BC7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" y="1593814"/>
            <a:ext cx="2937835" cy="46144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6722A1-6AA8-30FF-1D61-2801E84FC33B}"/>
              </a:ext>
            </a:extLst>
          </p:cNvPr>
          <p:cNvSpPr txBox="1"/>
          <p:nvPr/>
        </p:nvSpPr>
        <p:spPr>
          <a:xfrm>
            <a:off x="329183" y="6208268"/>
            <a:ext cx="2937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Figure 3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50E9E34C-097C-CD9C-0108-02CCBE973DC5}"/>
              </a:ext>
            </a:extLst>
          </p:cNvPr>
          <p:cNvSpPr/>
          <p:nvPr/>
        </p:nvSpPr>
        <p:spPr>
          <a:xfrm rot="5400000">
            <a:off x="3176488" y="1524134"/>
            <a:ext cx="4926921" cy="5056901"/>
          </a:xfrm>
          <a:prstGeom prst="wedgeRectCallout">
            <a:avLst>
              <a:gd name="adj1" fmla="val -22895"/>
              <a:gd name="adj2" fmla="val 74806"/>
            </a:avLst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0D7AE12-8BED-8B42-BC25-BF1C40D421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971"/>
          <a:stretch>
            <a:fillRect/>
          </a:stretch>
        </p:blipFill>
        <p:spPr>
          <a:xfrm>
            <a:off x="3149598" y="1626245"/>
            <a:ext cx="4980700" cy="48526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EE4878-E751-038E-8573-E4EBFD93215B}"/>
              </a:ext>
            </a:extLst>
          </p:cNvPr>
          <p:cNvSpPr txBox="1"/>
          <p:nvPr/>
        </p:nvSpPr>
        <p:spPr>
          <a:xfrm>
            <a:off x="8206499" y="1792772"/>
            <a:ext cx="37973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이미지 처리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6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장의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300x300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해상도 이미지 입력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사전학습된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EfficientNet-B3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9x9x512 feature map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생성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출력값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81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개의 시각적 토큰으로 평탄화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9x9: 공간 정보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512: 채널 정보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지시사항 처리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작업 관련 이미지 특징을 초기에 추출 가능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USE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통한 언어 </a:t>
            </a:r>
            <a:r>
              <a:rPr lang="ko-KR" altLang="en-US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임베딩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FiLM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레이어를 통해 전달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이미지 처리 시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언어 정보가 가이드가 됨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8859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19F7-E8E7-0CC9-6B88-F596E26C5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DD762F-D74A-6AC4-ADEA-79A70037E2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C614C5-0DC3-98F2-04CD-AA9D281D2454}"/>
              </a:ext>
            </a:extLst>
          </p:cNvPr>
          <p:cNvSpPr txBox="1"/>
          <p:nvPr/>
        </p:nvSpPr>
        <p:spPr>
          <a:xfrm>
            <a:off x="554278" y="1593815"/>
            <a:ext cx="85833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1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! </a:t>
            </a:r>
            <a:r>
              <a:rPr lang="en-US" altLang="ko-KR" sz="1351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EfficientNet</a:t>
            </a:r>
            <a:r>
              <a:rPr lang="ko-KR" altLang="en-US" sz="1351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</a:t>
            </a:r>
            <a:r>
              <a:rPr lang="ko-KR" altLang="en-US" sz="1351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뭘까요</a:t>
            </a:r>
            <a:r>
              <a:rPr lang="en-US" altLang="ko-KR" sz="1351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1351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D8D7E-0A59-E51D-5A59-612994C1E8B0}"/>
              </a:ext>
            </a:extLst>
          </p:cNvPr>
          <p:cNvSpPr txBox="1"/>
          <p:nvPr/>
        </p:nvSpPr>
        <p:spPr>
          <a:xfrm>
            <a:off x="554278" y="2192822"/>
            <a:ext cx="96719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EfficientNet</a:t>
            </a:r>
            <a:b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Image Classification Task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대해서 기존보다 훨씬 적은 파라미터 수로 더욱 좋은 성능을 내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State-Of-The-Art(SOTA)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달성한 모델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059F0A-69B1-D34E-1C47-FF06B6D1CCC4}"/>
              </a:ext>
            </a:extLst>
          </p:cNvPr>
          <p:cNvSpPr txBox="1"/>
          <p:nvPr/>
        </p:nvSpPr>
        <p:spPr>
          <a:xfrm>
            <a:off x="554278" y="3741849"/>
            <a:ext cx="5057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[CNN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성능 개선 방법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Layer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개수 증가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(=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망의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depth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증가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Channel width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증가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(=filter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개수 증가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입력 이미지의 해상도 증가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D7191F0D-E12F-444D-0774-56283014307F}"/>
              </a:ext>
            </a:extLst>
          </p:cNvPr>
          <p:cNvSpPr/>
          <p:nvPr/>
        </p:nvSpPr>
        <p:spPr>
          <a:xfrm>
            <a:off x="5421553" y="4108650"/>
            <a:ext cx="674447" cy="46672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079436-539F-229E-0C47-35B4F7ECC8F1}"/>
              </a:ext>
            </a:extLst>
          </p:cNvPr>
          <p:cNvSpPr txBox="1"/>
          <p:nvPr/>
        </p:nvSpPr>
        <p:spPr>
          <a:xfrm>
            <a:off x="6314666" y="4157346"/>
            <a:ext cx="505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세가지 방법에 대한 </a:t>
            </a:r>
            <a:r>
              <a:rPr lang="ko-KR" altLang="en-US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최적의 조합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찾는 모델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E48395-F366-B643-66CA-4EA8BD5F49D4}"/>
              </a:ext>
            </a:extLst>
          </p:cNvPr>
          <p:cNvSpPr txBox="1"/>
          <p:nvPr/>
        </p:nvSpPr>
        <p:spPr>
          <a:xfrm>
            <a:off x="554278" y="6062753"/>
            <a:ext cx="90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*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추가적인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CNN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대한 설명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b="1" dirty="0" err="1">
                <a:solidFill>
                  <a:srgbClr val="0563C1"/>
                </a:solidFill>
                <a:latin typeface="Noto Sans KR" panose="020B0200000000000000" pitchFamily="50" charset="-127"/>
                <a:ea typeface="Noto Sans KR" panose="020B0200000000000000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딥러닝시스템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정리</a:t>
            </a:r>
            <a:endParaRPr lang="ko-KR" altLang="en-US" sz="1400" b="1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1503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4900-AC02-561C-7885-3A4F6532D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5F6264-2B9B-EDBF-7C3A-5736E961978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D8993E6-53AB-0E1E-47B8-53B2227CB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" y="1593814"/>
            <a:ext cx="2937835" cy="46144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0FB30A-97F6-AB58-CF99-8D827FB559FC}"/>
              </a:ext>
            </a:extLst>
          </p:cNvPr>
          <p:cNvSpPr txBox="1"/>
          <p:nvPr/>
        </p:nvSpPr>
        <p:spPr>
          <a:xfrm>
            <a:off x="329183" y="6208268"/>
            <a:ext cx="2937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Figure 3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1A6057C-472F-8D0D-DE66-6662625AC108}"/>
              </a:ext>
            </a:extLst>
          </p:cNvPr>
          <p:cNvGrpSpPr/>
          <p:nvPr/>
        </p:nvGrpSpPr>
        <p:grpSpPr>
          <a:xfrm>
            <a:off x="3416293" y="1593814"/>
            <a:ext cx="8063632" cy="3367090"/>
            <a:chOff x="3111493" y="1757366"/>
            <a:chExt cx="8063632" cy="3367090"/>
          </a:xfrm>
        </p:grpSpPr>
        <p:sp>
          <p:nvSpPr>
            <p:cNvPr id="4" name="말풍선: 사각형 3">
              <a:extLst>
                <a:ext uri="{FF2B5EF4-FFF2-40B4-BE49-F238E27FC236}">
                  <a16:creationId xmlns:a16="http://schemas.microsoft.com/office/drawing/2014/main" id="{E5CF5BDA-DE8C-78CD-51F3-19285A0B0E4E}"/>
                </a:ext>
              </a:extLst>
            </p:cNvPr>
            <p:cNvSpPr/>
            <p:nvPr/>
          </p:nvSpPr>
          <p:spPr>
            <a:xfrm rot="5400000">
              <a:off x="5459764" y="-590905"/>
              <a:ext cx="3367090" cy="8063632"/>
            </a:xfrm>
            <a:prstGeom prst="wedgeRectCallout">
              <a:avLst>
                <a:gd name="adj1" fmla="val 34870"/>
                <a:gd name="adj2" fmla="val 65687"/>
              </a:avLst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F50677AF-885F-7167-D916-B43F9AEB8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5569" b="28132"/>
            <a:stretch>
              <a:fillRect/>
            </a:stretch>
          </p:blipFill>
          <p:spPr>
            <a:xfrm>
              <a:off x="3172247" y="1800567"/>
              <a:ext cx="7942123" cy="3280688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242DA2E-705C-8600-29C8-39DD4357C5E6}"/>
              </a:ext>
            </a:extLst>
          </p:cNvPr>
          <p:cNvSpPr txBox="1"/>
          <p:nvPr/>
        </p:nvSpPr>
        <p:spPr>
          <a:xfrm>
            <a:off x="3465950" y="5038717"/>
            <a:ext cx="52601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en-US" altLang="ko-KR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TokenLeaner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RT-1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처리해야 하는 토큰 수 감소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추론 속도 증가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이미지 토큰을 정보에 따라 선별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⇒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81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개의 토큰 중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개의 토큰만 다음 레이어로 전달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15D6E-2EF3-99BD-69CB-8DA13D38F578}"/>
              </a:ext>
            </a:extLst>
          </p:cNvPr>
          <p:cNvSpPr txBox="1"/>
          <p:nvPr/>
        </p:nvSpPr>
        <p:spPr>
          <a:xfrm>
            <a:off x="8726050" y="5043616"/>
            <a:ext cx="29764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[Positional Encoding]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토큰의 이미지 시점 순서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같은 이미지 내 위치 순서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3325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CE30-BDAB-72DB-4AA8-B9D78E8AF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EBCA88-1AAA-7760-4A23-0B2D954F49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6E5FCC5-1D80-58FD-8A2A-8866F919A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3" y="1593814"/>
            <a:ext cx="2937835" cy="46144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34B174-8CE9-7684-5350-F1FD3D52D00F}"/>
              </a:ext>
            </a:extLst>
          </p:cNvPr>
          <p:cNvSpPr txBox="1"/>
          <p:nvPr/>
        </p:nvSpPr>
        <p:spPr>
          <a:xfrm>
            <a:off x="329183" y="6208268"/>
            <a:ext cx="2937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Figure 3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DAD4A19-B052-F620-872E-509CC7607F07}"/>
              </a:ext>
            </a:extLst>
          </p:cNvPr>
          <p:cNvGrpSpPr/>
          <p:nvPr/>
        </p:nvGrpSpPr>
        <p:grpSpPr>
          <a:xfrm>
            <a:off x="3088770" y="1589124"/>
            <a:ext cx="5018800" cy="4926921"/>
            <a:chOff x="6574920" y="131799"/>
            <a:chExt cx="5018800" cy="4926921"/>
          </a:xfrm>
        </p:grpSpPr>
        <p:sp>
          <p:nvSpPr>
            <p:cNvPr id="4" name="말풍선: 사각형 3">
              <a:extLst>
                <a:ext uri="{FF2B5EF4-FFF2-40B4-BE49-F238E27FC236}">
                  <a16:creationId xmlns:a16="http://schemas.microsoft.com/office/drawing/2014/main" id="{BFA78A15-B3B9-765F-795B-0C5FF1757B28}"/>
                </a:ext>
              </a:extLst>
            </p:cNvPr>
            <p:cNvSpPr/>
            <p:nvPr/>
          </p:nvSpPr>
          <p:spPr>
            <a:xfrm rot="5400000">
              <a:off x="6620859" y="85860"/>
              <a:ext cx="4926921" cy="5018800"/>
            </a:xfrm>
            <a:prstGeom prst="wedgeRectCallout">
              <a:avLst>
                <a:gd name="adj1" fmla="val 25472"/>
                <a:gd name="adj2" fmla="val 66039"/>
              </a:avLst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F637766B-CDF5-C46B-D5E7-334C574D3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65" t="37497" r="-765" b="474"/>
            <a:stretch>
              <a:fillRect/>
            </a:stretch>
          </p:blipFill>
          <p:spPr>
            <a:xfrm>
              <a:off x="6613020" y="168920"/>
              <a:ext cx="4980700" cy="4852678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CC0416E-7631-C855-1640-CAE1055584AB}"/>
              </a:ext>
            </a:extLst>
          </p:cNvPr>
          <p:cNvSpPr txBox="1"/>
          <p:nvPr/>
        </p:nvSpPr>
        <p:spPr>
          <a:xfrm>
            <a:off x="8145671" y="2623769"/>
            <a:ext cx="37973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[Transformer]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Self-Attention layer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입력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추론 속도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사람이 태스크를 수행하는 데 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걸리는 시간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2~4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초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최소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3Hz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명령 지속적으로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제공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다음 행동 추론 시간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u="sng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100ms </a:t>
            </a:r>
            <a:r>
              <a:rPr lang="ko-KR" altLang="en-US" u="sng" dirty="0">
                <a:latin typeface="Noto Sans KR" panose="020B0200000000000000" pitchFamily="50" charset="-127"/>
                <a:ea typeface="Noto Sans KR" panose="020B0200000000000000" pitchFamily="50" charset="-127"/>
              </a:rPr>
              <a:t>미만</a:t>
            </a:r>
            <a:endParaRPr lang="en-US" altLang="ko-KR" u="sng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⇒ 추론 속도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RT-1: 15ms</a:t>
            </a:r>
          </a:p>
        </p:txBody>
      </p:sp>
    </p:spTree>
    <p:extLst>
      <p:ext uri="{BB962C8B-B14F-4D97-AF65-F5344CB8AC3E}">
        <p14:creationId xmlns:p14="http://schemas.microsoft.com/office/powerpoint/2010/main" val="3578719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6DC7-E386-2AC7-8472-C0CE8F1CD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264917-CD2A-7B35-AD9C-8D0EBCA1B9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 descr="The image depicts a list of various object manipulation skills, including instructions for picking, moving, placing, knocking, opening, closing, and placing objects, along with examples for each skill.&#10;&#10;AI 생성 콘텐츠는 정확하지 않을 수 있습니다.">
            <a:extLst>
              <a:ext uri="{FF2B5EF4-FFF2-40B4-BE49-F238E27FC236}">
                <a16:creationId xmlns:a16="http://schemas.microsoft.com/office/drawing/2014/main" id="{34E2B3A5-F0AA-8D9E-FA9C-B5D452BE7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97" y="1593814"/>
            <a:ext cx="10825206" cy="463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72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3D7D8-F51C-DCC6-93C2-35A712E16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2681E2-62B2-DDCE-C051-EF78570FE5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B96BB-4A4A-F08C-3E99-27C0BAE9FECC}"/>
              </a:ext>
            </a:extLst>
          </p:cNvPr>
          <p:cNvSpPr txBox="1"/>
          <p:nvPr/>
        </p:nvSpPr>
        <p:spPr>
          <a:xfrm>
            <a:off x="329183" y="2705100"/>
            <a:ext cx="113294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[5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가지 핵심 실험 질문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342900" lvl="0" indent="-342900">
              <a:buFont typeface="+mj-lt"/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RT-1은 수많은 명령어를 학습하고, 새로운 작업/사물/환경에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제로샷으로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일반화할 수 있는가? 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6.2)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시뮬레이션 데이터나 다른 로봇의 데이터 같은 이질적인 데이터 소스를 통합하여 모델 성능을 더 끌어올릴 수 있는가? 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6.3)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여러 모델들이 호흡이 긴 로봇 시나리오에서 어떻게 일반화하는가? 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6.4)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데이터의 양과 데이터의 다양성에 따라 일반화 성능은 어떻게 변하는가? 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6.5)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 설계에 있어 실용적이고 중요한 결정들은 무엇이며, 이것이 성능과 일반화에 어떤 영향을 미치는가? 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Appendix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D.4)</a:t>
            </a:r>
          </a:p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3051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F08D0-E25A-FE63-7B4C-1DD86E901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3420E8-5C6D-149F-863C-64B372F376C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F0039-2CB5-6FF9-74C2-99209D34845D}"/>
              </a:ext>
            </a:extLst>
          </p:cNvPr>
          <p:cNvSpPr txBox="1"/>
          <p:nvPr/>
        </p:nvSpPr>
        <p:spPr>
          <a:xfrm>
            <a:off x="457201" y="1593814"/>
            <a:ext cx="10848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ko-KR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RT-1은 수많은 명령어를 학습하고, 새로운 작업/사물/환경에 </a:t>
            </a:r>
            <a:r>
              <a:rPr lang="ko-KR" altLang="ko-KR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제로샷으로</a:t>
            </a:r>
            <a:r>
              <a:rPr lang="ko-KR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일반화할 수 있는가? (</a:t>
            </a:r>
            <a:r>
              <a:rPr lang="ko-KR" altLang="ko-KR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6.2)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 descr="The diagram illustrates a comparison of the performance of a model (RT-1) against baselines (GATO and BC-Z) across different categories: seen tasks, generalization to unseen tasks, and robustness to distractors and backgrounds.&#10;&#10;AI 생성 콘텐츠는 정확하지 않을 수 있습니다.">
            <a:extLst>
              <a:ext uri="{FF2B5EF4-FFF2-40B4-BE49-F238E27FC236}">
                <a16:creationId xmlns:a16="http://schemas.microsoft.com/office/drawing/2014/main" id="{61955F4E-E6E8-9F52-E747-4307A3343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84" y="2255504"/>
            <a:ext cx="10886695" cy="367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33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660BD-ABDE-65A6-B9DB-6A16A4AF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B565FF-2564-327E-AA38-C151D7DCD52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227D9-B580-B4F2-3D5B-CD1B416FD027}"/>
              </a:ext>
            </a:extLst>
          </p:cNvPr>
          <p:cNvSpPr txBox="1"/>
          <p:nvPr/>
        </p:nvSpPr>
        <p:spPr>
          <a:xfrm>
            <a:off x="457201" y="1593814"/>
            <a:ext cx="10848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ko-KR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RT-1은 수많은 명령어를 학습하고, 새로운 작업/사물/환경에 </a:t>
            </a:r>
            <a:r>
              <a:rPr lang="ko-KR" altLang="ko-KR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제로샷으로</a:t>
            </a:r>
            <a:r>
              <a:rPr lang="ko-KR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일반화할 수 있는가? (</a:t>
            </a:r>
            <a:r>
              <a:rPr lang="ko-KR" altLang="ko-KR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6.2)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7" name="그림 6" descr="The image illustrates a series of evaluations for distractor effectiveness in different scenarios, showcasing varying levels of difficulty and environmental contexts.&#10;&#10;AI 생성 콘텐츠는 정확하지 않을 수 있습니다.">
            <a:extLst>
              <a:ext uri="{FF2B5EF4-FFF2-40B4-BE49-F238E27FC236}">
                <a16:creationId xmlns:a16="http://schemas.microsoft.com/office/drawing/2014/main" id="{4F0C9DFE-DE21-ABCB-DDEE-3AD1CD4177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60" r="13685" b="19074"/>
          <a:stretch>
            <a:fillRect/>
          </a:stretch>
        </p:blipFill>
        <p:spPr>
          <a:xfrm>
            <a:off x="457201" y="1963146"/>
            <a:ext cx="5805488" cy="4266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8C1A13-BCA8-1456-4ED4-0323CAFA1DC2}"/>
              </a:ext>
            </a:extLst>
          </p:cNvPr>
          <p:cNvSpPr txBox="1"/>
          <p:nvPr/>
        </p:nvSpPr>
        <p:spPr>
          <a:xfrm>
            <a:off x="1891027" y="6160643"/>
            <a:ext cx="2937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Figure 4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1C4DA-7496-7C69-017A-AD715EB5D67A}"/>
              </a:ext>
            </a:extLst>
          </p:cNvPr>
          <p:cNvSpPr txBox="1"/>
          <p:nvPr/>
        </p:nvSpPr>
        <p:spPr>
          <a:xfrm>
            <a:off x="6262689" y="3429000"/>
            <a:ext cx="51673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견고성 평가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방해 요소에 대한 견고성 평가를 위해 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30개의 실제 작업 수행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배경에 대한 견고성 평가를 위해 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22개의 작업 수행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새로운 주방(조명 및 배경이 다름)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다양한 조리대 표면(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ex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무늬가 있는 식탁보)</a:t>
            </a:r>
          </a:p>
        </p:txBody>
      </p:sp>
    </p:spTree>
    <p:extLst>
      <p:ext uri="{BB962C8B-B14F-4D97-AF65-F5344CB8AC3E}">
        <p14:creationId xmlns:p14="http://schemas.microsoft.com/office/powerpoint/2010/main" val="742264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F05EE-9765-E4A3-548E-F524001D6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617D72-0330-3575-247A-16AA20F626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7639C-86AD-CE66-5322-09E13FCE8700}"/>
              </a:ext>
            </a:extLst>
          </p:cNvPr>
          <p:cNvSpPr txBox="1"/>
          <p:nvPr/>
        </p:nvSpPr>
        <p:spPr>
          <a:xfrm>
            <a:off x="457201" y="1593814"/>
            <a:ext cx="10848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ko-KR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RT-1은 수많은 명령어를 학습하고, 새로운 작업/사물/환경에 </a:t>
            </a:r>
            <a:r>
              <a:rPr lang="ko-KR" altLang="ko-KR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제로샷으로</a:t>
            </a:r>
            <a:r>
              <a:rPr lang="ko-KR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일반화할 수 있는가? (</a:t>
            </a:r>
            <a:r>
              <a:rPr lang="ko-KR" altLang="ko-KR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6.2)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 descr="The diagram illustrates the success rates of various models (GATO, BC-Z, BC-Z XL, and RT-1) in different levels of generalization tasks in a kitchen setting.&#10;&#10;AI 생성 콘텐츠는 정확하지 않을 수 있습니다.">
            <a:extLst>
              <a:ext uri="{FF2B5EF4-FFF2-40B4-BE49-F238E27FC236}">
                <a16:creationId xmlns:a16="http://schemas.microsoft.com/office/drawing/2014/main" id="{FE682AF4-B03E-F8DD-C14C-4552F69C5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76" y="2055479"/>
            <a:ext cx="9579448" cy="437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94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17355-FC44-43C8-A435-C8F67AA8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0594C1-0039-4B2C-1ADC-A14A893C91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B6105-74D3-2099-FF83-2F7B3CADEA76}"/>
              </a:ext>
            </a:extLst>
          </p:cNvPr>
          <p:cNvSpPr txBox="1"/>
          <p:nvPr/>
        </p:nvSpPr>
        <p:spPr>
          <a:xfrm>
            <a:off x="457200" y="1593814"/>
            <a:ext cx="11277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 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시뮬레이션 데이터나 다른 로봇의 데이터 같은 이질적인 데이터 소스를 통합하여 모델 성능을 더 끌어올릴 수 있는가? 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6.3)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8" name="그림 7" descr="The diagram illustrates that incorporating simulation data improves performance on real tasks by 64% and on simulated objects with skills learned only in reality by 26%.&#10;&#10;AI 생성 콘텐츠는 정확하지 않을 수 있습니다.">
            <a:extLst>
              <a:ext uri="{FF2B5EF4-FFF2-40B4-BE49-F238E27FC236}">
                <a16:creationId xmlns:a16="http://schemas.microsoft.com/office/drawing/2014/main" id="{8C8AFC57-9723-BC4A-BA54-CEEF845A58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87"/>
          <a:stretch>
            <a:fillRect/>
          </a:stretch>
        </p:blipFill>
        <p:spPr>
          <a:xfrm>
            <a:off x="1647791" y="2240145"/>
            <a:ext cx="8896415" cy="409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48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61B0-F02E-117A-B569-F1CE5F60F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D6535-7B84-8FF4-F0A2-F84811726F5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6D298-784D-90E9-92F2-7B2FB8D67F06}"/>
              </a:ext>
            </a:extLst>
          </p:cNvPr>
          <p:cNvSpPr txBox="1"/>
          <p:nvPr/>
        </p:nvSpPr>
        <p:spPr>
          <a:xfrm>
            <a:off x="457200" y="1593814"/>
            <a:ext cx="11277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 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시뮬레이션 데이터나 다른 로봇의 데이터 같은 이질적인 데이터 소스를 통합하여 모델 성능을 더 끌어올릴 수 있는가? 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6.3)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 descr="The image depicts a comparison chart of success rates for a robot learning algorithm (RT-1) trained with different data sets, showing improved performance in bin-picking tasks when data from two different robot types (EDR and Kuka) are combined.&#10;&#10;AI 생성 콘텐츠는 정확하지 않을 수 있습니다.">
            <a:extLst>
              <a:ext uri="{FF2B5EF4-FFF2-40B4-BE49-F238E27FC236}">
                <a16:creationId xmlns:a16="http://schemas.microsoft.com/office/drawing/2014/main" id="{B0604FA3-769B-97B9-25CF-82F2F8928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256"/>
          <a:stretch>
            <a:fillRect/>
          </a:stretch>
        </p:blipFill>
        <p:spPr>
          <a:xfrm>
            <a:off x="1616849" y="2435704"/>
            <a:ext cx="8958302" cy="380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90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25042-13CC-0D70-283B-8A3719678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5EED67-3946-D677-A242-9AA8AEBE12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FDC5E-3917-3200-6303-7AA04760E331}"/>
              </a:ext>
            </a:extLst>
          </p:cNvPr>
          <p:cNvSpPr txBox="1"/>
          <p:nvPr/>
        </p:nvSpPr>
        <p:spPr>
          <a:xfrm>
            <a:off x="457200" y="1593814"/>
            <a:ext cx="11277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 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시뮬레이션 데이터나 다른 로봇의 데이터 같은 이질적인 데이터 소스를 통합하여 모델 성능을 더 끌어올릴 수 있는가? 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6.3)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 descr="The diagram shows a table comparing the success rates of different models trained on various data sets, indicating a significant improvement when Kuka bin-picking data is used in conjunction with EDR data for the RT-1 robot.&#10;&#10;AI 생성 콘텐츠는 정확하지 않을 수 있습니다.">
            <a:extLst>
              <a:ext uri="{FF2B5EF4-FFF2-40B4-BE49-F238E27FC236}">
                <a16:creationId xmlns:a16="http://schemas.microsoft.com/office/drawing/2014/main" id="{1DE555D2-5232-6C4D-19D2-49CEBA1EF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690" y="2240145"/>
            <a:ext cx="9016620" cy="410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0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BB342-6059-E4BB-AD15-B3E6058EB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9E5A9F-A753-E4FC-4649-C29B4711014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7F494-ACD6-3A43-2A6B-125ED93A928F}"/>
              </a:ext>
            </a:extLst>
          </p:cNvPr>
          <p:cNvSpPr txBox="1"/>
          <p:nvPr/>
        </p:nvSpPr>
        <p:spPr>
          <a:xfrm>
            <a:off x="457200" y="1593814"/>
            <a:ext cx="11277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 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여러 모델들이 호흡이 긴 로봇 시나리오에서 어떻게 일반화하는가? 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6.4)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4" name="그림 3" descr="The table compares planning and execution success rates for various SayCan style tasks in two kitchen settings.&#10;&#10;AI 생성 콘텐츠는 정확하지 않을 수 있습니다.">
            <a:extLst>
              <a:ext uri="{FF2B5EF4-FFF2-40B4-BE49-F238E27FC236}">
                <a16:creationId xmlns:a16="http://schemas.microsoft.com/office/drawing/2014/main" id="{D7D93ED3-D27D-D2EA-40C9-DE743AA26D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0" t="2793"/>
          <a:stretch>
            <a:fillRect/>
          </a:stretch>
        </p:blipFill>
        <p:spPr>
          <a:xfrm>
            <a:off x="130947" y="2424811"/>
            <a:ext cx="11930106" cy="301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16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26AC-6D22-776C-64CD-ABC81DDC1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538BA1-9D65-5931-2603-766377434BB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4CFAF-17B6-48BC-B7FC-2DFB61F0EC03}"/>
              </a:ext>
            </a:extLst>
          </p:cNvPr>
          <p:cNvSpPr txBox="1"/>
          <p:nvPr/>
        </p:nvSpPr>
        <p:spPr>
          <a:xfrm>
            <a:off x="457200" y="1593814"/>
            <a:ext cx="11277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 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데이터의 양과 데이터의 다양성에 따라 일반화 성능은 어떻게 변하는가? (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Section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6.5)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6" name="그림 5" descr="The image depicts a graph comparing the performance of the RT-1 model across different tasks and data scenarios, showing a clear impact of data diversity on performance.&#10;&#10;AI 생성 콘텐츠는 정확하지 않을 수 있습니다.">
            <a:extLst>
              <a:ext uri="{FF2B5EF4-FFF2-40B4-BE49-F238E27FC236}">
                <a16:creationId xmlns:a16="http://schemas.microsoft.com/office/drawing/2014/main" id="{EDABC7D6-5AA2-5F5E-4E8E-5851453C68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24" r="15090" b="62640"/>
          <a:stretch>
            <a:fillRect/>
          </a:stretch>
        </p:blipFill>
        <p:spPr>
          <a:xfrm>
            <a:off x="329183" y="2886773"/>
            <a:ext cx="5924305" cy="2377413"/>
          </a:xfrm>
          <a:prstGeom prst="rect">
            <a:avLst/>
          </a:prstGeom>
        </p:spPr>
      </p:pic>
      <p:pic>
        <p:nvPicPr>
          <p:cNvPr id="8" name="그림 7" descr="The image depicts a graph comparing the performance of the RT-1 model across different tasks and data scenarios, showing a clear impact of data diversity on performance.&#10;&#10;AI 생성 콘텐츠는 정확하지 않을 수 있습니다.">
            <a:extLst>
              <a:ext uri="{FF2B5EF4-FFF2-40B4-BE49-F238E27FC236}">
                <a16:creationId xmlns:a16="http://schemas.microsoft.com/office/drawing/2014/main" id="{E847BA6E-C393-C3B8-EB51-EA1F0F41CB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23" t="39320" r="15488" b="13852"/>
          <a:stretch>
            <a:fillRect/>
          </a:stretch>
        </p:blipFill>
        <p:spPr>
          <a:xfrm>
            <a:off x="7048499" y="2886772"/>
            <a:ext cx="4686300" cy="237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64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76387-C875-38EF-6F2B-AE241D81B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0CCBC3-C3FB-DCB6-3BD1-3A6A66C0DA9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83" y="1132149"/>
            <a:ext cx="851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ko-KR" b="1" dirty="0"/>
              <a:t>RT-1: </a:t>
            </a:r>
            <a:r>
              <a:rPr lang="ko-KR" altLang="ko-KR" b="1" dirty="0" err="1"/>
              <a:t>Robotics</a:t>
            </a:r>
            <a:r>
              <a:rPr lang="ko-KR" altLang="ko-KR" b="1" dirty="0"/>
              <a:t> </a:t>
            </a:r>
            <a:r>
              <a:rPr lang="ko-KR" altLang="ko-KR" b="1" dirty="0" err="1"/>
              <a:t>Transformer</a:t>
            </a:r>
            <a:r>
              <a:rPr lang="en-US" altLang="ko-KR" b="1" dirty="0"/>
              <a:t> for</a:t>
            </a:r>
            <a:r>
              <a:rPr lang="ko-KR" altLang="en-US" b="1" dirty="0"/>
              <a:t> </a:t>
            </a:r>
            <a:r>
              <a:rPr lang="en-US" altLang="ko-KR" b="1" dirty="0"/>
              <a:t>Real-World</a:t>
            </a:r>
            <a:r>
              <a:rPr lang="ko-KR" altLang="en-US" b="1" dirty="0"/>
              <a:t> </a:t>
            </a:r>
            <a:r>
              <a:rPr lang="en-US" altLang="ko-KR" b="1" dirty="0"/>
              <a:t>Control</a:t>
            </a:r>
            <a:r>
              <a:rPr lang="ko-KR" altLang="en-US" b="1" dirty="0"/>
              <a:t> </a:t>
            </a:r>
            <a:r>
              <a:rPr lang="en-US" altLang="ko-KR" b="1" dirty="0"/>
              <a:t>at</a:t>
            </a:r>
            <a:r>
              <a:rPr lang="ko-KR" altLang="en-US" b="1" dirty="0"/>
              <a:t> </a:t>
            </a:r>
            <a:r>
              <a:rPr lang="en-US" altLang="ko-KR" b="1" dirty="0"/>
              <a:t>Scale (2022)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3E0CF-5FA9-4536-30C7-90641F4512FF}"/>
              </a:ext>
            </a:extLst>
          </p:cNvPr>
          <p:cNvSpPr txBox="1"/>
          <p:nvPr/>
        </p:nvSpPr>
        <p:spPr>
          <a:xfrm>
            <a:off x="457200" y="1593814"/>
            <a:ext cx="11277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66553-68A1-8117-0D81-E44FE57965E3}"/>
              </a:ext>
            </a:extLst>
          </p:cNvPr>
          <p:cNvSpPr txBox="1"/>
          <p:nvPr/>
        </p:nvSpPr>
        <p:spPr>
          <a:xfrm>
            <a:off x="457200" y="3170100"/>
            <a:ext cx="52863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주요 성과 요약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규모 및 다양성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13만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 이상의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데이터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700개 이상의 작업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⇒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97%라는 높은 성공률로 수행해 냈습니다.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일반화 능력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F7FBFD-3882-BDAC-5A42-C5C5DECC53A6}"/>
              </a:ext>
            </a:extLst>
          </p:cNvPr>
          <p:cNvSpPr txBox="1"/>
          <p:nvPr/>
        </p:nvSpPr>
        <p:spPr>
          <a:xfrm>
            <a:off x="6448424" y="3170100"/>
            <a:ext cx="52863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한계점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모방학습을 위한 시연 데이터 수집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완전히 새로운 동작 불가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짧은 상황 인식 시간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1300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813</TotalTime>
  <Words>1423</Words>
  <Application>Microsoft Office PowerPoint</Application>
  <PresentationFormat>와이드스크린</PresentationFormat>
  <Paragraphs>180</Paragraphs>
  <Slides>28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맑은 고딕</vt:lpstr>
      <vt:lpstr>Arial</vt:lpstr>
      <vt:lpstr>Noto Sans KR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허지윤</dc:creator>
  <cp:lastModifiedBy>jiyoon heo</cp:lastModifiedBy>
  <cp:revision>12</cp:revision>
  <dcterms:created xsi:type="dcterms:W3CDTF">2026-05-06T05:51:18Z</dcterms:created>
  <dcterms:modified xsi:type="dcterms:W3CDTF">2026-09-26T12:43:29Z</dcterms:modified>
</cp:coreProperties>
</file>