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9" r:id="rId1"/>
  </p:sldMasterIdLst>
  <p:notesMasterIdLst>
    <p:notesMasterId r:id="rId18"/>
  </p:notesMasterIdLst>
  <p:sldIdLst>
    <p:sldId id="256" r:id="rId2"/>
    <p:sldId id="363" r:id="rId3"/>
    <p:sldId id="364" r:id="rId4"/>
    <p:sldId id="366" r:id="rId5"/>
    <p:sldId id="365" r:id="rId6"/>
    <p:sldId id="367" r:id="rId7"/>
    <p:sldId id="368" r:id="rId8"/>
    <p:sldId id="369" r:id="rId9"/>
    <p:sldId id="370" r:id="rId10"/>
    <p:sldId id="371" r:id="rId11"/>
    <p:sldId id="372" r:id="rId12"/>
    <p:sldId id="373" r:id="rId13"/>
    <p:sldId id="374" r:id="rId14"/>
    <p:sldId id="375" r:id="rId15"/>
    <p:sldId id="376" r:id="rId16"/>
    <p:sldId id="387" r:id="rId17"/>
  </p:sldIdLst>
  <p:sldSz cx="12192000" cy="6858000"/>
  <p:notesSz cx="6858000" cy="9144000"/>
  <p:embeddedFontLst>
    <p:embeddedFont>
      <p:font typeface="D2Coding" panose="020B0609020101020101" pitchFamily="49" charset="-127"/>
      <p:regular r:id="rId19"/>
      <p:bold r:id="rId20"/>
    </p:embeddedFont>
    <p:embeddedFont>
      <p:font typeface="Noto Sans KR" panose="020B0200000000000000" pitchFamily="50" charset="-127"/>
      <p:regular r:id="rId21"/>
      <p:bold r:id="rId22"/>
    </p:embeddedFont>
    <p:embeddedFont>
      <p:font typeface="맑은 고딕" panose="020B0503020000020004" pitchFamily="50" charset="-127"/>
      <p:regular r:id="rId23"/>
      <p:bold r:id="rId2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8" autoAdjust="0"/>
    <p:restoredTop sz="94660"/>
  </p:normalViewPr>
  <p:slideViewPr>
    <p:cSldViewPr snapToGrid="0">
      <p:cViewPr varScale="1">
        <p:scale>
          <a:sx n="83" d="100"/>
          <a:sy n="83" d="100"/>
        </p:scale>
        <p:origin x="41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F6A4D-F27A-49B6-B862-606606CC6972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F32B5-C8E0-4D32-A233-9CBA55F39C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16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03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1703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141D72-DBC8-05DA-354C-DF6B920F34AB}"/>
              </a:ext>
            </a:extLst>
          </p:cNvPr>
          <p:cNvSpPr txBox="1"/>
          <p:nvPr userDrawn="1"/>
        </p:nvSpPr>
        <p:spPr>
          <a:xfrm>
            <a:off x="810129" y="293600"/>
            <a:ext cx="3378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2026.10.01</a:t>
            </a:r>
            <a:b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전공심화공동체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_VLA Study 2</a:t>
            </a:r>
            <a:r>
              <a:rPr lang="ko-KR" altLang="en-US" sz="16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D367FD0-CF7F-D590-02F4-40F714405BBA}"/>
              </a:ext>
            </a:extLst>
          </p:cNvPr>
          <p:cNvSpPr/>
          <p:nvPr userDrawn="1"/>
        </p:nvSpPr>
        <p:spPr>
          <a:xfrm>
            <a:off x="0" y="6594651"/>
            <a:ext cx="12192000" cy="263349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Picture 2" descr="UI | 세종대학교">
            <a:extLst>
              <a:ext uri="{FF2B5EF4-FFF2-40B4-BE49-F238E27FC236}">
                <a16:creationId xmlns:a16="http://schemas.microsoft.com/office/drawing/2014/main" id="{BCB61189-E2B4-2F01-1D6F-918BD5B53F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05" y="323851"/>
            <a:ext cx="524274" cy="52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166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1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138FBF6-2E92-A0FF-DB51-3E06873A8234}"/>
              </a:ext>
            </a:extLst>
          </p:cNvPr>
          <p:cNvSpPr txBox="1">
            <a:spLocks/>
          </p:cNvSpPr>
          <p:nvPr/>
        </p:nvSpPr>
        <p:spPr>
          <a:xfrm>
            <a:off x="241402" y="2819889"/>
            <a:ext cx="11704320" cy="178270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9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고딕Neo" panose="020B0500000101010101" pitchFamily="50" charset="-127"/>
              </a:rPr>
              <a:t>[2026.10.01(</a:t>
            </a:r>
            <a:r>
              <a:rPr lang="ko-KR" altLang="en-US" sz="29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고딕Neo" panose="020B0500000101010101" pitchFamily="50" charset="-127"/>
              </a:rPr>
              <a:t>금</a:t>
            </a:r>
            <a:r>
              <a:rPr lang="en-US" altLang="ko-KR" sz="29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고딕Neo" panose="020B0500000101010101" pitchFamily="50" charset="-127"/>
              </a:rPr>
              <a:t>) VLA Study]</a:t>
            </a:r>
          </a:p>
          <a:p>
            <a:b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고딕Neo" panose="020B0500000101010101" pitchFamily="50" charset="-127"/>
              </a:rPr>
            </a:br>
            <a:r>
              <a:rPr lang="ko-KR" altLang="en-US" sz="3700" b="1" dirty="0">
                <a:latin typeface="Noto Sans KR" panose="020B0200000000000000" pitchFamily="50" charset="-127"/>
                <a:ea typeface="Noto Sans KR" panose="020B0200000000000000" pitchFamily="50" charset="-127"/>
                <a:cs typeface="Microsoft 고딕Neo" panose="020B0500000101010101" pitchFamily="50" charset="-127"/>
              </a:rPr>
              <a:t>스터디② </a:t>
            </a:r>
            <a:r>
              <a:rPr lang="en-US" altLang="ko-KR" sz="3700" b="1" dirty="0">
                <a:latin typeface="Noto Sans KR" panose="020B0200000000000000" pitchFamily="50" charset="-127"/>
                <a:ea typeface="Noto Sans KR" panose="020B0200000000000000" pitchFamily="50" charset="-127"/>
                <a:cs typeface="Microsoft 고딕Neo" panose="020B0500000101010101" pitchFamily="50" charset="-127"/>
              </a:rPr>
              <a:t>- VLA </a:t>
            </a:r>
            <a:r>
              <a:rPr lang="ko-KR" altLang="en-US" sz="3700" b="1" dirty="0">
                <a:latin typeface="Noto Sans KR" panose="020B0200000000000000" pitchFamily="50" charset="-127"/>
                <a:ea typeface="Noto Sans KR" panose="020B0200000000000000" pitchFamily="50" charset="-127"/>
                <a:cs typeface="Microsoft 고딕Neo" panose="020B0500000101010101" pitchFamily="50" charset="-127"/>
              </a:rPr>
              <a:t>개념 정립</a:t>
            </a:r>
            <a:endParaRPr lang="ko-KR" altLang="en-US" sz="4500" dirty="0">
              <a:latin typeface="Noto Sans KR" panose="020B0200000000000000" pitchFamily="50" charset="-127"/>
              <a:ea typeface="Noto Sans KR" panose="020B0200000000000000" pitchFamily="50" charset="-127"/>
              <a:cs typeface="Microsoft 고딕Neo" panose="020B0500000101010101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71B4FE1-C23A-C3BA-66A9-BFC984D305A7}"/>
              </a:ext>
            </a:extLst>
          </p:cNvPr>
          <p:cNvCxnSpPr>
            <a:cxnSpLocks/>
          </p:cNvCxnSpPr>
          <p:nvPr/>
        </p:nvCxnSpPr>
        <p:spPr>
          <a:xfrm>
            <a:off x="241402" y="4056498"/>
            <a:ext cx="11639661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부제목 2">
            <a:extLst>
              <a:ext uri="{FF2B5EF4-FFF2-40B4-BE49-F238E27FC236}">
                <a16:creationId xmlns:a16="http://schemas.microsoft.com/office/drawing/2014/main" id="{03F4DEFD-C94E-79BB-BADF-3EF848201532}"/>
              </a:ext>
            </a:extLst>
          </p:cNvPr>
          <p:cNvSpPr txBox="1">
            <a:spLocks/>
          </p:cNvSpPr>
          <p:nvPr/>
        </p:nvSpPr>
        <p:spPr>
          <a:xfrm>
            <a:off x="241402" y="4281222"/>
            <a:ext cx="9144000" cy="5164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RT-2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논문 내용 정리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29D70E-A66C-5BF6-CD25-6D0B7FC2EED9}"/>
              </a:ext>
            </a:extLst>
          </p:cNvPr>
          <p:cNvSpPr txBox="1"/>
          <p:nvPr/>
        </p:nvSpPr>
        <p:spPr>
          <a:xfrm>
            <a:off x="10219985" y="6221968"/>
            <a:ext cx="1896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23011935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허지윤</a:t>
            </a:r>
          </a:p>
        </p:txBody>
      </p:sp>
    </p:spTree>
    <p:extLst>
      <p:ext uri="{BB962C8B-B14F-4D97-AF65-F5344CB8AC3E}">
        <p14:creationId xmlns:p14="http://schemas.microsoft.com/office/powerpoint/2010/main" val="4272500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54C5B-D86B-3EDA-E80E-F330E7DB6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2F647D-D067-F0D5-B85C-3CCEC27D2184}"/>
              </a:ext>
            </a:extLst>
          </p:cNvPr>
          <p:cNvSpPr txBox="1"/>
          <p:nvPr/>
        </p:nvSpPr>
        <p:spPr>
          <a:xfrm>
            <a:off x="329183" y="1132149"/>
            <a:ext cx="9900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</a:t>
            </a:r>
            <a:r>
              <a:rPr lang="en-US" altLang="ko-KR" b="1" dirty="0"/>
              <a:t>2</a:t>
            </a:r>
            <a:r>
              <a:rPr lang="ko-KR" altLang="ko-KR" b="1" dirty="0"/>
              <a:t>: </a:t>
            </a:r>
            <a:r>
              <a:rPr lang="en-US" altLang="ko-KR" b="1" dirty="0"/>
              <a:t>Vision-Language-Action Models Transfer Web Knowledge to Robotic Control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B075B9B-5F6E-0B31-9899-649941298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3" y="1745983"/>
            <a:ext cx="6619493" cy="51120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8BF4D1-6F24-0D14-1CDA-87C82DE24CAF}"/>
              </a:ext>
            </a:extLst>
          </p:cNvPr>
          <p:cNvSpPr txBox="1"/>
          <p:nvPr/>
        </p:nvSpPr>
        <p:spPr>
          <a:xfrm>
            <a:off x="7048500" y="1745983"/>
            <a:ext cx="50482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저자: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Anthony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Brohan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Noah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Brown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Justice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Carbajal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외 52명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학회: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7th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Conference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on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Robot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Learning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CoRL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2023)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논문 배경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accen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LLM/VLM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한계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상위 레벨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플래너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역할만 수행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명령어 해석 → 동작을 구분하는 역할만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행동을 만들어내는 컨트롤러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⇒ 방대한 규모의 지식 적용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X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제안 내용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로봇 행동 → 텍스트 토큰으로 표현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VQA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등 웹 데이터와 함께 학습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VLA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명명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6495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5E73E-FA9C-5F81-2519-29D0C571F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17C861-6A2D-026B-5B5A-566BC034981F}"/>
              </a:ext>
            </a:extLst>
          </p:cNvPr>
          <p:cNvSpPr txBox="1"/>
          <p:nvPr/>
        </p:nvSpPr>
        <p:spPr>
          <a:xfrm>
            <a:off x="329183" y="1132149"/>
            <a:ext cx="1025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</a:t>
            </a:r>
            <a:r>
              <a:rPr lang="en-US" altLang="ko-KR" b="1" dirty="0"/>
              <a:t>2</a:t>
            </a:r>
            <a:r>
              <a:rPr lang="ko-KR" altLang="ko-KR" b="1" dirty="0"/>
              <a:t>: </a:t>
            </a:r>
            <a:r>
              <a:rPr lang="en-US" altLang="ko-KR" b="1" dirty="0"/>
              <a:t>Vision-Language-Action Models Transfer Web Knowledge to Robotic Control (2023)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" name="그림 4" descr="An image depicts a grey donkey walking down the street, a bowl being filled with ingredients for a cake, and a bag being picked up, all accompanied by text tokens and annotations related to robot control and language modeling.&#10;&#10;AI 생성 콘텐츠는 정확하지 않을 수 있습니다.">
            <a:extLst>
              <a:ext uri="{FF2B5EF4-FFF2-40B4-BE49-F238E27FC236}">
                <a16:creationId xmlns:a16="http://schemas.microsoft.com/office/drawing/2014/main" id="{971D1D72-46E3-59A0-2FF4-773B0C5C3B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-107"/>
          <a:stretch>
            <a:fillRect/>
          </a:stretch>
        </p:blipFill>
        <p:spPr>
          <a:xfrm>
            <a:off x="1886857" y="1784072"/>
            <a:ext cx="8418286" cy="448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556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DF2B9-32E8-0C48-3CF2-0F2901B37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An image depicts a grey donkey walking down the street, a bowl being filled with ingredients for a cake, and a bag being picked up, all accompanied by text tokens and annotations related to robot control and language modeling.&#10;&#10;AI 생성 콘텐츠는 정확하지 않을 수 있습니다.">
            <a:extLst>
              <a:ext uri="{FF2B5EF4-FFF2-40B4-BE49-F238E27FC236}">
                <a16:creationId xmlns:a16="http://schemas.microsoft.com/office/drawing/2014/main" id="{1FF4F9B6-5F8E-E48C-4164-D8C9BA9002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356" b="28400"/>
          <a:stretch>
            <a:fillRect/>
          </a:stretch>
        </p:blipFill>
        <p:spPr>
          <a:xfrm>
            <a:off x="329183" y="1683379"/>
            <a:ext cx="4223767" cy="46412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F3C43E-A38F-8977-2A04-EAF6151B99F3}"/>
              </a:ext>
            </a:extLst>
          </p:cNvPr>
          <p:cNvSpPr txBox="1"/>
          <p:nvPr/>
        </p:nvSpPr>
        <p:spPr>
          <a:xfrm>
            <a:off x="5279516" y="2157329"/>
            <a:ext cx="515257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입력</a:t>
            </a:r>
            <a:endParaRPr lang="ko-KR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사진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질문 문장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자연어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회색 → 토큰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숫자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두 번째 예시 ⇒ 다국어 명령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토큰 해석 결과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보라색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질문에 대한 답변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자연어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← 텍스트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변위와 회전 값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벡터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← 관절 명령어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[VQA]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이미지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질문 </a:t>
            </a:r>
            <a:r>
              <a:rPr lang="ko-KR" altLang="ko-KR" dirty="0"/>
              <a:t>→</a:t>
            </a:r>
            <a:r>
              <a:rPr lang="en-US" altLang="ko-KR" dirty="0"/>
              <a:t> </a:t>
            </a:r>
            <a:r>
              <a:rPr lang="ko-KR" altLang="en-US" dirty="0"/>
              <a:t>텍스트 답변</a:t>
            </a:r>
            <a:endParaRPr lang="en-US" altLang="ko-KR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C7F9CAF-A79B-7062-297A-CDDF488999EE}"/>
              </a:ext>
            </a:extLst>
          </p:cNvPr>
          <p:cNvCxnSpPr>
            <a:stCxn id="5" idx="3"/>
            <a:endCxn id="4" idx="1"/>
          </p:cNvCxnSpPr>
          <p:nvPr/>
        </p:nvCxnSpPr>
        <p:spPr>
          <a:xfrm flipV="1">
            <a:off x="4552950" y="4003989"/>
            <a:ext cx="726566" cy="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37C613A-80AD-EB1A-27AD-4FD097DDCA28}"/>
              </a:ext>
            </a:extLst>
          </p:cNvPr>
          <p:cNvSpPr txBox="1"/>
          <p:nvPr/>
        </p:nvSpPr>
        <p:spPr>
          <a:xfrm>
            <a:off x="329183" y="1132149"/>
            <a:ext cx="1025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</a:t>
            </a:r>
            <a:r>
              <a:rPr lang="en-US" altLang="ko-KR" b="1" dirty="0"/>
              <a:t>2</a:t>
            </a:r>
            <a:r>
              <a:rPr lang="ko-KR" altLang="ko-KR" b="1" dirty="0"/>
              <a:t>: </a:t>
            </a:r>
            <a:r>
              <a:rPr lang="en-US" altLang="ko-KR" b="1" dirty="0"/>
              <a:t>Vision-Language-Action Models Transfer Web Knowledge to Robotic Control (2023)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2799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AE657-443A-ED79-CE85-5D7204172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An image depicts a grey donkey walking down the street, a bowl being filled with ingredients for a cake, and a bag being picked up, all accompanied by text tokens and annotations related to robot control and language modeling.&#10;&#10;AI 생성 콘텐츠는 정확하지 않을 수 있습니다.">
            <a:extLst>
              <a:ext uri="{FF2B5EF4-FFF2-40B4-BE49-F238E27FC236}">
                <a16:creationId xmlns:a16="http://schemas.microsoft.com/office/drawing/2014/main" id="{92352132-4F18-D61C-E2BC-C709E8F4A5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81" r="18019" b="28400"/>
          <a:stretch>
            <a:fillRect/>
          </a:stretch>
        </p:blipFill>
        <p:spPr>
          <a:xfrm>
            <a:off x="329183" y="1593814"/>
            <a:ext cx="5766817" cy="46412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8936B3-CF30-5C6F-5404-B3ABAA34C5AD}"/>
              </a:ext>
            </a:extLst>
          </p:cNvPr>
          <p:cNvSpPr txBox="1"/>
          <p:nvPr/>
        </p:nvSpPr>
        <p:spPr>
          <a:xfrm>
            <a:off x="6226629" y="2206264"/>
            <a:ext cx="59653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[VLA]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텍스트 질문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주황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토큰으로 쪼개짐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카메라 이미지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파랑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ViT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거쳐 이미지 토큰으로 변환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LLM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블록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텍스트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이미지 →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멀티모달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출력단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보라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액션 토큰에 해당하는 부분만 추출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유효한 액션 토큰만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샘플링하도록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함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[terminate, </a:t>
            </a:r>
            <a:r>
              <a:rPr lang="el-G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x, </a:t>
            </a:r>
            <a:r>
              <a:rPr lang="el-G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y, </a:t>
            </a:r>
            <a:r>
              <a:rPr lang="el-G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z, </a:t>
            </a:r>
            <a:r>
              <a:rPr lang="el-G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roll, </a:t>
            </a:r>
            <a:r>
              <a:rPr lang="el-G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pitch, </a:t>
            </a:r>
            <a:r>
              <a:rPr lang="el-G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yaw, gripper]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8B8A61A2-E76C-AC35-0CD6-997374A526BD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 flipV="1">
            <a:off x="6096000" y="3914424"/>
            <a:ext cx="130629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1BC216-E54E-04E0-E5C4-336DEEA297E3}"/>
              </a:ext>
            </a:extLst>
          </p:cNvPr>
          <p:cNvSpPr txBox="1"/>
          <p:nvPr/>
        </p:nvSpPr>
        <p:spPr>
          <a:xfrm>
            <a:off x="329183" y="1132149"/>
            <a:ext cx="1025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</a:t>
            </a:r>
            <a:r>
              <a:rPr lang="en-US" altLang="ko-KR" b="1" dirty="0"/>
              <a:t>2</a:t>
            </a:r>
            <a:r>
              <a:rPr lang="ko-KR" altLang="ko-KR" b="1" dirty="0"/>
              <a:t>: </a:t>
            </a:r>
            <a:r>
              <a:rPr lang="en-US" altLang="ko-KR" b="1" dirty="0"/>
              <a:t>Vision-Language-Action Models Transfer Web Knowledge to Robotic Control (2023)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9765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79452-C35A-4481-6878-5D10C19D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An image depicts a grey donkey walking down the street, a bowl being filled with ingredients for a cake, and a bag being picked up, all accompanied by text tokens and annotations related to robot control and language modeling.&#10;&#10;AI 생성 콘텐츠는 정확하지 않을 수 있습니다.">
            <a:extLst>
              <a:ext uri="{FF2B5EF4-FFF2-40B4-BE49-F238E27FC236}">
                <a16:creationId xmlns:a16="http://schemas.microsoft.com/office/drawing/2014/main" id="{3F3329A0-6C03-5381-083C-FB2C9B7297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786" t="2507" r="1071" b="28399"/>
          <a:stretch>
            <a:fillRect/>
          </a:stretch>
        </p:blipFill>
        <p:spPr>
          <a:xfrm>
            <a:off x="1146627" y="1675021"/>
            <a:ext cx="2191763" cy="4696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B9CB4A-F3B2-002D-2B6B-20941EE1C3FB}"/>
              </a:ext>
            </a:extLst>
          </p:cNvPr>
          <p:cNvSpPr txBox="1"/>
          <p:nvPr/>
        </p:nvSpPr>
        <p:spPr>
          <a:xfrm>
            <a:off x="5080002" y="2730734"/>
            <a:ext cx="59653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[Closed-Loop]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한 번의 추론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행동 토큰 출력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동작 실행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새 이미지 관측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번으로 다시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돌아감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/>
              <a:t>→</a:t>
            </a:r>
            <a:r>
              <a:rPr lang="en-US" altLang="ko-KR" dirty="0"/>
              <a:t> </a:t>
            </a:r>
            <a:r>
              <a:rPr lang="ko-KR" altLang="en-US" dirty="0"/>
              <a:t>반복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⇒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1~3Hz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계속 사용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F78C1BD-0FA8-B2DA-AB18-D39B79C90A61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3338390" y="4023396"/>
            <a:ext cx="1741612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4606F9F-C3C4-D293-0856-EFA0F0C5DEAE}"/>
              </a:ext>
            </a:extLst>
          </p:cNvPr>
          <p:cNvSpPr txBox="1"/>
          <p:nvPr/>
        </p:nvSpPr>
        <p:spPr>
          <a:xfrm>
            <a:off x="329183" y="1132149"/>
            <a:ext cx="1025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</a:t>
            </a:r>
            <a:r>
              <a:rPr lang="en-US" altLang="ko-KR" b="1" dirty="0"/>
              <a:t>2</a:t>
            </a:r>
            <a:r>
              <a:rPr lang="ko-KR" altLang="ko-KR" b="1" dirty="0"/>
              <a:t>: </a:t>
            </a:r>
            <a:r>
              <a:rPr lang="en-US" altLang="ko-KR" b="1" dirty="0"/>
              <a:t>Vision-Language-Action Models Transfer Web Knowledge to Robotic Control (2023)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5117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8CB28-990C-981C-BD22-B288639A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0B51667-599D-5AD9-5F64-FE92E9EFF5DC}"/>
              </a:ext>
            </a:extLst>
          </p:cNvPr>
          <p:cNvSpPr txBox="1"/>
          <p:nvPr/>
        </p:nvSpPr>
        <p:spPr>
          <a:xfrm>
            <a:off x="554278" y="1593815"/>
            <a:ext cx="8583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학습 데이터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FF47F5-1642-0FDC-7987-6AE5F197303F}"/>
              </a:ext>
            </a:extLst>
          </p:cNvPr>
          <p:cNvSpPr txBox="1"/>
          <p:nvPr/>
        </p:nvSpPr>
        <p:spPr>
          <a:xfrm>
            <a:off x="554278" y="2309531"/>
            <a:ext cx="5965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로봇 데이터 수집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새로 수집하지 않음 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ko-KR" dirty="0"/>
              <a:t>→</a:t>
            </a:r>
            <a:r>
              <a:rPr lang="en-US" altLang="ko-KR" dirty="0"/>
              <a:t> RT-1 </a:t>
            </a:r>
            <a:r>
              <a:rPr lang="ko-KR" altLang="en-US" dirty="0"/>
              <a:t>데이터셋 그대로 사용</a:t>
            </a:r>
            <a:endParaRPr lang="en-US" altLang="ko-KR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B94C04D-8C3F-AE60-16FA-21CA47291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132661"/>
              </p:ext>
            </p:extLst>
          </p:nvPr>
        </p:nvGraphicFramePr>
        <p:xfrm>
          <a:off x="554278" y="3527169"/>
          <a:ext cx="5446486" cy="1981200"/>
        </p:xfrm>
        <a:graphic>
          <a:graphicData uri="http://schemas.openxmlformats.org/drawingml/2006/table">
            <a:tbl>
              <a:tblPr/>
              <a:tblGrid>
                <a:gridCol w="1237343">
                  <a:extLst>
                    <a:ext uri="{9D8B030D-6E8A-4147-A177-3AD203B41FA5}">
                      <a16:colId xmlns:a16="http://schemas.microsoft.com/office/drawing/2014/main" val="4118520332"/>
                    </a:ext>
                  </a:extLst>
                </a:gridCol>
                <a:gridCol w="4209143">
                  <a:extLst>
                    <a:ext uri="{9D8B030D-6E8A-4147-A177-3AD203B41FA5}">
                      <a16:colId xmlns:a16="http://schemas.microsoft.com/office/drawing/2014/main" val="3748073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0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0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14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로봇 대수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000" b="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13대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867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수집 기간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000" b="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17개월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937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장소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000" b="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사무실 주방 환경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113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형태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모바일 </a:t>
                      </a:r>
                      <a:r>
                        <a:rPr lang="ko-KR" sz="20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매니퓰레이터의</a:t>
                      </a:r>
                      <a:r>
                        <a:rPr lang="ko-KR" sz="2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시연 에피소드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40605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64663DB-705B-8F70-BD64-85FEE7A5EE5F}"/>
              </a:ext>
            </a:extLst>
          </p:cNvPr>
          <p:cNvSpPr txBox="1"/>
          <p:nvPr/>
        </p:nvSpPr>
        <p:spPr>
          <a:xfrm>
            <a:off x="6096000" y="2307661"/>
            <a:ext cx="5965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웹 데이터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원본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약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100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억 개 이미지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텍스트 쌍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109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 언어 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C3BB9AD-EB05-4D96-D424-0A1BFAEF1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7427"/>
              </p:ext>
            </p:extLst>
          </p:nvPr>
        </p:nvGraphicFramePr>
        <p:xfrm>
          <a:off x="6191238" y="3527169"/>
          <a:ext cx="3966016" cy="1097280"/>
        </p:xfrm>
        <a:graphic>
          <a:graphicData uri="http://schemas.openxmlformats.org/drawingml/2006/table">
            <a:tbl>
              <a:tblPr/>
              <a:tblGrid>
                <a:gridCol w="1730829">
                  <a:extLst>
                    <a:ext uri="{9D8B030D-6E8A-4147-A177-3AD203B41FA5}">
                      <a16:colId xmlns:a16="http://schemas.microsoft.com/office/drawing/2014/main" val="3691919655"/>
                    </a:ext>
                  </a:extLst>
                </a:gridCol>
                <a:gridCol w="2235187">
                  <a:extLst>
                    <a:ext uri="{9D8B030D-6E8A-4147-A177-3AD203B41FA5}">
                      <a16:colId xmlns:a16="http://schemas.microsoft.com/office/drawing/2014/main" val="925364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/>
                        <a:t>모델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/>
                        <a:t>로봇 데이터 비중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246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RT-2-PaLI-X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약 </a:t>
                      </a:r>
                      <a:r>
                        <a:rPr lang="ko-KR" b="1" dirty="0"/>
                        <a:t>50%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951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RT-2-PaLM-E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약 </a:t>
                      </a:r>
                      <a:r>
                        <a:rPr lang="ko-KR" b="1" dirty="0"/>
                        <a:t>66%</a:t>
                      </a:r>
                      <a:endParaRPr 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6236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6F40D9D-20EE-275C-EE08-98FE2CA9F6C2}"/>
              </a:ext>
            </a:extLst>
          </p:cNvPr>
          <p:cNvSpPr txBox="1"/>
          <p:nvPr/>
        </p:nvSpPr>
        <p:spPr>
          <a:xfrm>
            <a:off x="329183" y="1132149"/>
            <a:ext cx="1025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</a:t>
            </a:r>
            <a:r>
              <a:rPr lang="en-US" altLang="ko-KR" b="1" dirty="0"/>
              <a:t>2</a:t>
            </a:r>
            <a:r>
              <a:rPr lang="ko-KR" altLang="ko-KR" b="1" dirty="0"/>
              <a:t>: </a:t>
            </a:r>
            <a:r>
              <a:rPr lang="en-US" altLang="ko-KR" b="1" dirty="0"/>
              <a:t>Vision-Language-Action Models Transfer Web Knowledge to Robotic Control (2023)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9160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E3AD3-D8B4-0EBC-7543-A90339EB9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The image appears to be a visual representation of a series of instructions or steps, likely from a video game or a puzzle, involving moving various objects like fruits, bags, and animals into specific locations.&#10;&#10;AI 생성 콘텐츠는 정확하지 않을 수 있습니다.">
            <a:extLst>
              <a:ext uri="{FF2B5EF4-FFF2-40B4-BE49-F238E27FC236}">
                <a16:creationId xmlns:a16="http://schemas.microsoft.com/office/drawing/2014/main" id="{BD716D11-1063-3D0B-C6F6-586B216C6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3" y="1775378"/>
            <a:ext cx="5700512" cy="4517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0F6525-473B-DF03-E2E9-E9D7D4180DA5}"/>
              </a:ext>
            </a:extLst>
          </p:cNvPr>
          <p:cNvSpPr txBox="1"/>
          <p:nvPr/>
        </p:nvSpPr>
        <p:spPr>
          <a:xfrm>
            <a:off x="6096000" y="2603197"/>
            <a:ext cx="590731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put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strawberry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into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the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correct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bowl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장면의 맥락 속에서 딸기가 같은 과일들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가야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함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추론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correct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→ 어느 그릇인지 명령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X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⇒ 장면 안에서 추론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pick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up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the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bag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about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to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fall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off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the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table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두 개의 봉투를 구별 / 그 중 위태롭게 놓인 쪽 인식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판별 기준: 상태</a:t>
            </a:r>
            <a:b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물리적 상황을 파악해야 함</a:t>
            </a:r>
          </a:p>
          <a:p>
            <a:pPr>
              <a:buNone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⇒ </a:t>
            </a:r>
            <a:r>
              <a:rPr lang="ko-KR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로봇 데이터에서 한 번도 등장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X </a:t>
            </a:r>
            <a:b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ko-KR" dirty="0"/>
              <a:t>→</a:t>
            </a:r>
            <a:r>
              <a:rPr lang="en-US" altLang="ko-KR" dirty="0"/>
              <a:t>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비전-언어 데이터로부터의 의미 지식 전이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4447C6-D104-16A5-670C-6614DBA71AA6}"/>
              </a:ext>
            </a:extLst>
          </p:cNvPr>
          <p:cNvSpPr txBox="1"/>
          <p:nvPr/>
        </p:nvSpPr>
        <p:spPr>
          <a:xfrm>
            <a:off x="329183" y="1132149"/>
            <a:ext cx="1025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</a:t>
            </a:r>
            <a:r>
              <a:rPr lang="en-US" altLang="ko-KR" b="1" dirty="0"/>
              <a:t>2</a:t>
            </a:r>
            <a:r>
              <a:rPr lang="ko-KR" altLang="ko-KR" b="1" dirty="0"/>
              <a:t>: </a:t>
            </a:r>
            <a:r>
              <a:rPr lang="en-US" altLang="ko-KR" b="1" dirty="0"/>
              <a:t>Vision-Language-Action Models Transfer Web Knowledge to Robotic Control (2023)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0797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A3920-24AF-7E0E-31D3-A04724165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The image appears to be a visual representation of a series of instructions or steps, likely from a video game or a puzzle, involving moving various objects like fruits, bags, and animals into specific locations.&#10;&#10;AI 생성 콘텐츠는 정확하지 않을 수 있습니다.">
            <a:extLst>
              <a:ext uri="{FF2B5EF4-FFF2-40B4-BE49-F238E27FC236}">
                <a16:creationId xmlns:a16="http://schemas.microsoft.com/office/drawing/2014/main" id="{BE44EB6A-B84A-9E71-5226-4C945D21E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3" y="1775378"/>
            <a:ext cx="5700512" cy="4517960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1E1DC4C-237D-866D-EE3C-9AB651E95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477294"/>
              </p:ext>
            </p:extLst>
          </p:nvPr>
        </p:nvGraphicFramePr>
        <p:xfrm>
          <a:off x="6162307" y="2525598"/>
          <a:ext cx="5700512" cy="3017520"/>
        </p:xfrm>
        <a:graphic>
          <a:graphicData uri="http://schemas.openxmlformats.org/drawingml/2006/table">
            <a:tbl>
              <a:tblPr/>
              <a:tblGrid>
                <a:gridCol w="3149600">
                  <a:extLst>
                    <a:ext uri="{9D8B030D-6E8A-4147-A177-3AD203B41FA5}">
                      <a16:colId xmlns:a16="http://schemas.microsoft.com/office/drawing/2014/main" val="3517976410"/>
                    </a:ext>
                  </a:extLst>
                </a:gridCol>
                <a:gridCol w="2550912">
                  <a:extLst>
                    <a:ext uri="{9D8B030D-6E8A-4147-A177-3AD203B41FA5}">
                      <a16:colId xmlns:a16="http://schemas.microsoft.com/office/drawing/2014/main" val="750587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명령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요구되는 지식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778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move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redbull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can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to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</a:t>
                      </a:r>
                      <a:endParaRPr 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알파벳 글자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289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move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banana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to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the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sum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b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of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two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plus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one</a:t>
                      </a:r>
                      <a:endParaRPr 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숫자 + 산술 (답: 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722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move bag to Google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기업 로고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393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move apple to Denver Nuggets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스포츠 팀 로고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851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move banana to Germany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국기 (사진 속 여러 국기 중)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6927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4C773C4-2F60-2BFA-D699-4D0689CAD108}"/>
              </a:ext>
            </a:extLst>
          </p:cNvPr>
          <p:cNvSpPr txBox="1"/>
          <p:nvPr/>
        </p:nvSpPr>
        <p:spPr>
          <a:xfrm>
            <a:off x="329183" y="1132149"/>
            <a:ext cx="1025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</a:t>
            </a:r>
            <a:r>
              <a:rPr lang="en-US" altLang="ko-KR" b="1" dirty="0"/>
              <a:t>2</a:t>
            </a:r>
            <a:r>
              <a:rPr lang="ko-KR" altLang="ko-KR" b="1" dirty="0"/>
              <a:t>: </a:t>
            </a:r>
            <a:r>
              <a:rPr lang="en-US" altLang="ko-KR" b="1" dirty="0"/>
              <a:t>Vision-Language-Action Models Transfer Web Knowledge to Robotic Control (2023)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7659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508FC-3D8F-BF18-AAAE-8FE4221B0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The image appears to be a visual representation of a series of instructions or steps, likely from a video game or a puzzle, involving moving various objects like fruits, bags, and animals into specific locations.&#10;&#10;AI 생성 콘텐츠는 정확하지 않을 수 있습니다.">
            <a:extLst>
              <a:ext uri="{FF2B5EF4-FFF2-40B4-BE49-F238E27FC236}">
                <a16:creationId xmlns:a16="http://schemas.microsoft.com/office/drawing/2014/main" id="{598D4867-30A3-C3C4-D154-84DE4D0EE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3" y="1775378"/>
            <a:ext cx="5700512" cy="4517960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5B03B39-25AE-ACF6-30E9-6773E37F3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050515"/>
              </p:ext>
            </p:extLst>
          </p:nvPr>
        </p:nvGraphicFramePr>
        <p:xfrm>
          <a:off x="6162307" y="1565478"/>
          <a:ext cx="5570849" cy="4937760"/>
        </p:xfrm>
        <a:graphic>
          <a:graphicData uri="http://schemas.openxmlformats.org/drawingml/2006/table">
            <a:tbl>
              <a:tblPr/>
              <a:tblGrid>
                <a:gridCol w="2867562">
                  <a:extLst>
                    <a:ext uri="{9D8B030D-6E8A-4147-A177-3AD203B41FA5}">
                      <a16:colId xmlns:a16="http://schemas.microsoft.com/office/drawing/2014/main" val="3614532680"/>
                    </a:ext>
                  </a:extLst>
                </a:gridCol>
                <a:gridCol w="2703287">
                  <a:extLst>
                    <a:ext uri="{9D8B030D-6E8A-4147-A177-3AD203B41FA5}">
                      <a16:colId xmlns:a16="http://schemas.microsoft.com/office/drawing/2014/main" val="3040914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명령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요구되는 추론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287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put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strawberry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b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into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the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correct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bowl</a:t>
                      </a:r>
                      <a:endParaRPr 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맥락 기반 범주 매칭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926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place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orange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b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in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matching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bowl</a:t>
                      </a:r>
                      <a:endParaRPr 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동일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259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pick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up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the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bag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about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b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to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fall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off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the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table</a:t>
                      </a:r>
                      <a:endParaRPr 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물리적 상태 판단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821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move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soccer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ball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b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to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basketball</a:t>
                      </a:r>
                      <a:endParaRPr 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객체 범주 구별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673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move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cup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b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to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the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wine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bottle</a:t>
                      </a:r>
                      <a:endParaRPr 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객체 인식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962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pick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animal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b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with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different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colour</a:t>
                      </a:r>
                      <a:endParaRPr 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속성 기반 배제 추론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6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pick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land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animal</a:t>
                      </a:r>
                      <a:endParaRPr 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생물 분류 (육상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vs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수상)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807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pick</a:t>
                      </a: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robot</a:t>
                      </a:r>
                      <a:endParaRPr 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개념 인식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95527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F59C772-DCBC-06F5-93C6-8F9CAFDE92E9}"/>
              </a:ext>
            </a:extLst>
          </p:cNvPr>
          <p:cNvSpPr txBox="1"/>
          <p:nvPr/>
        </p:nvSpPr>
        <p:spPr>
          <a:xfrm>
            <a:off x="329183" y="1132149"/>
            <a:ext cx="1025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</a:t>
            </a:r>
            <a:r>
              <a:rPr lang="en-US" altLang="ko-KR" b="1" dirty="0"/>
              <a:t>2</a:t>
            </a:r>
            <a:r>
              <a:rPr lang="ko-KR" altLang="ko-KR" b="1" dirty="0"/>
              <a:t>: </a:t>
            </a:r>
            <a:r>
              <a:rPr lang="en-US" altLang="ko-KR" b="1" dirty="0"/>
              <a:t>Vision-Language-Action Models Transfer Web Knowledge to Robotic Control (2023)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238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8862A-E9CF-DA84-01E0-E4B28B268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8032543-70DF-F951-F804-78F7499A8595}"/>
              </a:ext>
            </a:extLst>
          </p:cNvPr>
          <p:cNvSpPr txBox="1"/>
          <p:nvPr/>
        </p:nvSpPr>
        <p:spPr>
          <a:xfrm>
            <a:off x="476937" y="1864660"/>
            <a:ext cx="11238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RT-2는 기존 작업에서 어떤 성능을 보이며, 더 중요하게는 새로운 객체, 배경 및 환경에 대해 일반화 능력은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어떠한가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</p:txBody>
      </p:sp>
      <p:pic>
        <p:nvPicPr>
          <p:cNvPr id="10" name="그림 9" descr="The image depicts a bar chart illustrating the performance comparison of two RT-2 instantiations and several baselines in terms of accuracy for tasks involving seen and unseen objects, backgrounds, and environments.&#10;&#10;AI 생성 콘텐츠는 정확하지 않을 수 있습니다.">
            <a:extLst>
              <a:ext uri="{FF2B5EF4-FFF2-40B4-BE49-F238E27FC236}">
                <a16:creationId xmlns:a16="http://schemas.microsoft.com/office/drawing/2014/main" id="{FA68F77D-C72B-DA85-2D94-B1194C244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55" y="2504838"/>
            <a:ext cx="11363889" cy="33734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8B7229-95D0-C1E0-302D-BB3D66BAA09A}"/>
              </a:ext>
            </a:extLst>
          </p:cNvPr>
          <p:cNvSpPr txBox="1"/>
          <p:nvPr/>
        </p:nvSpPr>
        <p:spPr>
          <a:xfrm>
            <a:off x="329183" y="1132149"/>
            <a:ext cx="1025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</a:t>
            </a:r>
            <a:r>
              <a:rPr lang="en-US" altLang="ko-KR" b="1" dirty="0"/>
              <a:t>2</a:t>
            </a:r>
            <a:r>
              <a:rPr lang="ko-KR" altLang="ko-KR" b="1" dirty="0"/>
              <a:t>: </a:t>
            </a:r>
            <a:r>
              <a:rPr lang="en-US" altLang="ko-KR" b="1" dirty="0"/>
              <a:t>Vision-Language-Action Models Transfer Web Knowledge to Robotic Control (2023)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4947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E9813-1C20-1CE0-4638-718C99289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The diagram displays a table comparing the performance of two different models (RT-2 and its baselines) across various tasks, showing their success in generalizing to new objects, backgrounds, and environments.&#10;&#10;AI 생성 콘텐츠는 정확하지 않을 수 있습니다.">
            <a:extLst>
              <a:ext uri="{FF2B5EF4-FFF2-40B4-BE49-F238E27FC236}">
                <a16:creationId xmlns:a16="http://schemas.microsoft.com/office/drawing/2014/main" id="{9F1F1B8B-EB4B-7D0A-C63F-2B37FB6F8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5" y="2813721"/>
            <a:ext cx="10833089" cy="3129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A007A5-7EBA-793C-58F8-243B4B65FE5C}"/>
              </a:ext>
            </a:extLst>
          </p:cNvPr>
          <p:cNvSpPr txBox="1"/>
          <p:nvPr/>
        </p:nvSpPr>
        <p:spPr>
          <a:xfrm>
            <a:off x="476937" y="1864660"/>
            <a:ext cx="11238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RT-2는 기존 작업에서 어떤 성능을 보이며, 더 중요하게는 새로운 객체, 배경 및 환경에 대해 일반화 능력은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어떠한가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D0F5C4-6B30-EA47-AA9D-5E9F2C97C5DB}"/>
              </a:ext>
            </a:extLst>
          </p:cNvPr>
          <p:cNvSpPr txBox="1"/>
          <p:nvPr/>
        </p:nvSpPr>
        <p:spPr>
          <a:xfrm>
            <a:off x="329183" y="1132149"/>
            <a:ext cx="1025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</a:t>
            </a:r>
            <a:r>
              <a:rPr lang="en-US" altLang="ko-KR" b="1" dirty="0"/>
              <a:t>2</a:t>
            </a:r>
            <a:r>
              <a:rPr lang="ko-KR" altLang="ko-KR" b="1" dirty="0"/>
              <a:t>: </a:t>
            </a:r>
            <a:r>
              <a:rPr lang="en-US" altLang="ko-KR" b="1" dirty="0"/>
              <a:t>Vision-Language-Action Models Transfer Web Knowledge to Robotic Control (2023)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7949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15196-6F14-34E5-2B11-9DEED89F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396268C-49AA-54A7-7F42-CB8BAB1E7190}"/>
              </a:ext>
            </a:extLst>
          </p:cNvPr>
          <p:cNvSpPr txBox="1"/>
          <p:nvPr/>
        </p:nvSpPr>
        <p:spPr>
          <a:xfrm>
            <a:off x="476938" y="1695970"/>
            <a:ext cx="11238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RT-2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새로운 기능을 관찰하고 측정할 수 있는가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" name="그림 4" descr="The image presents a comparative bar chart illustrating the performance of different RT-2 models (RT-2 w/ PaLM-E-12B, RT-2 w/ PaLI-X-55B, and Fine-Tuned) against various metrics, including task completion, reasoning, human performance, and unseen scenarios, with additional emphasis on the impact of training strategies and model parameters.&#10;&#10;AI 생성 콘텐츠는 정확하지 않을 수 있습니다.">
            <a:extLst>
              <a:ext uri="{FF2B5EF4-FFF2-40B4-BE49-F238E27FC236}">
                <a16:creationId xmlns:a16="http://schemas.microsoft.com/office/drawing/2014/main" id="{8C93034A-F077-F2A5-0AC9-7CFF6B912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66" y="2065302"/>
            <a:ext cx="9900667" cy="42708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AFEC6F-1127-E426-B38F-162F5CCC1A68}"/>
              </a:ext>
            </a:extLst>
          </p:cNvPr>
          <p:cNvSpPr txBox="1"/>
          <p:nvPr/>
        </p:nvSpPr>
        <p:spPr>
          <a:xfrm>
            <a:off x="329183" y="1132149"/>
            <a:ext cx="1025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</a:t>
            </a:r>
            <a:r>
              <a:rPr lang="en-US" altLang="ko-KR" b="1" dirty="0"/>
              <a:t>2</a:t>
            </a:r>
            <a:r>
              <a:rPr lang="ko-KR" altLang="ko-KR" b="1" dirty="0"/>
              <a:t>: </a:t>
            </a:r>
            <a:r>
              <a:rPr lang="en-US" altLang="ko-KR" b="1" dirty="0"/>
              <a:t>Vision-Language-Action Models Transfer Web Knowledge to Robotic Control (2023)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7217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8C8DF-C132-A968-257A-229337C5D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Image description: A series of images showcasing a desk with various objects including a green rice chip bag, a 7Up can, an RX bar, a hammer, nails, and other items.&#10;&#10;AI 생성 콘텐츠는 정확하지 않을 수 있습니다.">
            <a:extLst>
              <a:ext uri="{FF2B5EF4-FFF2-40B4-BE49-F238E27FC236}">
                <a16:creationId xmlns:a16="http://schemas.microsoft.com/office/drawing/2014/main" id="{EA56917A-7C5B-9A79-2917-5D7AAF82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670" y="1593814"/>
            <a:ext cx="8394660" cy="49288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F2F587-9B5D-489A-0358-1AA7D5408B90}"/>
              </a:ext>
            </a:extLst>
          </p:cNvPr>
          <p:cNvSpPr txBox="1"/>
          <p:nvPr/>
        </p:nvSpPr>
        <p:spPr>
          <a:xfrm>
            <a:off x="329183" y="1132149"/>
            <a:ext cx="1025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</a:t>
            </a:r>
            <a:r>
              <a:rPr lang="en-US" altLang="ko-KR" b="1" dirty="0"/>
              <a:t>2</a:t>
            </a:r>
            <a:r>
              <a:rPr lang="ko-KR" altLang="ko-KR" b="1" dirty="0"/>
              <a:t>: </a:t>
            </a:r>
            <a:r>
              <a:rPr lang="en-US" altLang="ko-KR" b="1" dirty="0"/>
              <a:t>Vision-Language-Action Models Transfer Web Knowledge to Robotic Control (2023)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9680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2EF10-9615-6155-C081-2B82D7B4D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9B80DC-86DC-50ED-9746-4FDB49781AAA}"/>
              </a:ext>
            </a:extLst>
          </p:cNvPr>
          <p:cNvSpPr txBox="1"/>
          <p:nvPr/>
        </p:nvSpPr>
        <p:spPr>
          <a:xfrm>
            <a:off x="457200" y="1593814"/>
            <a:ext cx="11277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D080B-2312-A4A6-109E-6977810A2226}"/>
              </a:ext>
            </a:extLst>
          </p:cNvPr>
          <p:cNvSpPr txBox="1"/>
          <p:nvPr/>
        </p:nvSpPr>
        <p:spPr>
          <a:xfrm>
            <a:off x="863600" y="2843349"/>
            <a:ext cx="78304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한계점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새로운 모션 획득 불가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스킬만 동작 가능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계산 비용과 실시간 추론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고주파 제어를 요구하는 환경에서는 사용하기 어려움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TPU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클라우드 서비스에 띄워야 가능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양자화 해결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VLM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모델들 극소수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46A67-457C-B7A9-4B7C-768D3BB821F2}"/>
              </a:ext>
            </a:extLst>
          </p:cNvPr>
          <p:cNvSpPr txBox="1"/>
          <p:nvPr/>
        </p:nvSpPr>
        <p:spPr>
          <a:xfrm>
            <a:off x="329183" y="1132149"/>
            <a:ext cx="1025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</a:t>
            </a:r>
            <a:r>
              <a:rPr lang="en-US" altLang="ko-KR" b="1" dirty="0"/>
              <a:t>2</a:t>
            </a:r>
            <a:r>
              <a:rPr lang="ko-KR" altLang="ko-KR" b="1" dirty="0"/>
              <a:t>: </a:t>
            </a:r>
            <a:r>
              <a:rPr lang="en-US" altLang="ko-KR" b="1" dirty="0"/>
              <a:t>Vision-Language-Action Models Transfer Web Knowledge to Robotic Control (2023)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3599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39E23F-0964-41F3-9DB8-B8533C626D9D}"/>
              </a:ext>
            </a:extLst>
          </p:cNvPr>
          <p:cNvSpPr txBox="1"/>
          <p:nvPr/>
        </p:nvSpPr>
        <p:spPr>
          <a:xfrm>
            <a:off x="329183" y="1132149"/>
            <a:ext cx="10759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Vision-Language-Action(VLA): 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인식에서 행동까지의 통합 모델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CA55ABD-13BA-BB7C-CF9D-101AA0422956}"/>
              </a:ext>
            </a:extLst>
          </p:cNvPr>
          <p:cNvGrpSpPr/>
          <p:nvPr/>
        </p:nvGrpSpPr>
        <p:grpSpPr>
          <a:xfrm>
            <a:off x="1095374" y="2342198"/>
            <a:ext cx="4352925" cy="3084314"/>
            <a:chOff x="1114424" y="2523173"/>
            <a:chExt cx="4352925" cy="3084314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18849407-AA8B-778B-9654-6FE9C36D5752}"/>
                </a:ext>
              </a:extLst>
            </p:cNvPr>
            <p:cNvSpPr/>
            <p:nvPr/>
          </p:nvSpPr>
          <p:spPr>
            <a:xfrm>
              <a:off x="1295400" y="2943225"/>
              <a:ext cx="4057650" cy="2664262"/>
            </a:xfrm>
            <a:prstGeom prst="roundRect">
              <a:avLst>
                <a:gd name="adj" fmla="val 629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251AA3-91FC-BCBD-BD01-9413C97914EA}"/>
                </a:ext>
              </a:extLst>
            </p:cNvPr>
            <p:cNvSpPr txBox="1"/>
            <p:nvPr/>
          </p:nvSpPr>
          <p:spPr>
            <a:xfrm>
              <a:off x="1114424" y="3022164"/>
              <a:ext cx="4352925" cy="25853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 err="1">
                  <a:latin typeface="D2Coding" panose="020B0609020101020101" pitchFamily="49" charset="-127"/>
                  <a:ea typeface="D2Coding" panose="020B0609020101020101" pitchFamily="49" charset="-127"/>
                </a:rPr>
                <a:t>이미지·센서</a:t>
              </a:r>
              <a:r>
                <a:rPr lang="ko-KR" altLang="en-US" dirty="0">
                  <a:latin typeface="D2Coding" panose="020B0609020101020101" pitchFamily="49" charset="-127"/>
                  <a:ea typeface="D2Coding" panose="020B0609020101020101" pitchFamily="49" charset="-127"/>
                </a:rPr>
                <a:t> 정보 + 자연어 지시</a:t>
              </a:r>
            </a:p>
            <a:p>
              <a:pPr algn="ctr"/>
              <a:r>
                <a:rPr lang="ko-KR" altLang="en-US" dirty="0">
                  <a:latin typeface="D2Coding" panose="020B0609020101020101" pitchFamily="49" charset="-127"/>
                  <a:ea typeface="D2Coding" panose="020B0609020101020101" pitchFamily="49" charset="-127"/>
                </a:rPr>
                <a:t>↓</a:t>
              </a:r>
            </a:p>
            <a:p>
              <a:pPr algn="ctr"/>
              <a:r>
                <a:rPr lang="ko-KR" altLang="en-US" dirty="0" err="1">
                  <a:latin typeface="D2Coding" panose="020B0609020101020101" pitchFamily="49" charset="-127"/>
                  <a:ea typeface="D2Coding" panose="020B0609020101020101" pitchFamily="49" charset="-127"/>
                </a:rPr>
                <a:t>Vision-Language</a:t>
              </a:r>
              <a:r>
                <a:rPr lang="ko-KR" altLang="en-US" dirty="0"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dirty="0" err="1">
                  <a:latin typeface="D2Coding" panose="020B0609020101020101" pitchFamily="49" charset="-127"/>
                  <a:ea typeface="D2Coding" panose="020B0609020101020101" pitchFamily="49" charset="-127"/>
                </a:rPr>
                <a:t>Model</a:t>
              </a:r>
              <a:endParaRPr lang="ko-KR" altLang="en-US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 algn="ctr"/>
              <a:r>
                <a:rPr lang="ko-KR" altLang="en-US" dirty="0">
                  <a:latin typeface="D2Coding" panose="020B0609020101020101" pitchFamily="49" charset="-127"/>
                  <a:ea typeface="D2Coding" panose="020B0609020101020101" pitchFamily="49" charset="-127"/>
                </a:rPr>
                <a:t>장면 이해 · 대상 인식 · 의미 추론</a:t>
              </a:r>
              <a:endParaRPr lang="en-US" altLang="ko-KR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 algn="ctr"/>
              <a:r>
                <a:rPr lang="ko-KR" altLang="en-US" dirty="0">
                  <a:latin typeface="D2Coding" panose="020B0609020101020101" pitchFamily="49" charset="-127"/>
                  <a:ea typeface="D2Coding" panose="020B0609020101020101" pitchFamily="49" charset="-127"/>
                </a:rPr>
                <a:t>↓</a:t>
              </a:r>
            </a:p>
            <a:p>
              <a:pPr algn="ctr"/>
              <a:r>
                <a:rPr lang="ko-KR" altLang="en-US" dirty="0" err="1">
                  <a:latin typeface="D2Coding" panose="020B0609020101020101" pitchFamily="49" charset="-127"/>
                  <a:ea typeface="D2Coding" panose="020B0609020101020101" pitchFamily="49" charset="-127"/>
                </a:rPr>
                <a:t>Action</a:t>
              </a:r>
              <a:r>
                <a:rPr lang="ko-KR" altLang="en-US" dirty="0"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ko-KR" altLang="en-US" dirty="0" err="1">
                  <a:latin typeface="D2Coding" panose="020B0609020101020101" pitchFamily="49" charset="-127"/>
                  <a:ea typeface="D2Coding" panose="020B0609020101020101" pitchFamily="49" charset="-127"/>
                </a:rPr>
                <a:t>Generation</a:t>
              </a:r>
              <a:endParaRPr lang="ko-KR" altLang="en-US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 algn="ctr"/>
              <a:r>
                <a:rPr lang="ko-KR" altLang="en-US" dirty="0" err="1">
                  <a:latin typeface="D2Coding" panose="020B0609020101020101" pitchFamily="49" charset="-127"/>
                  <a:ea typeface="D2Coding" panose="020B0609020101020101" pitchFamily="49" charset="-127"/>
                </a:rPr>
                <a:t>위치·회전·그리퍼·관절</a:t>
              </a:r>
              <a:r>
                <a:rPr lang="ko-KR" altLang="en-US" dirty="0">
                  <a:latin typeface="D2Coding" panose="020B0609020101020101" pitchFamily="49" charset="-127"/>
                  <a:ea typeface="D2Coding" panose="020B0609020101020101" pitchFamily="49" charset="-127"/>
                </a:rPr>
                <a:t> 명령 출력</a:t>
              </a:r>
            </a:p>
            <a:p>
              <a:pPr algn="ctr"/>
              <a:r>
                <a:rPr lang="ko-KR" altLang="en-US" dirty="0">
                  <a:latin typeface="D2Coding" panose="020B0609020101020101" pitchFamily="49" charset="-127"/>
                  <a:ea typeface="D2Coding" panose="020B0609020101020101" pitchFamily="49" charset="-127"/>
                </a:rPr>
                <a:t>↓</a:t>
              </a:r>
            </a:p>
            <a:p>
              <a:pPr algn="ctr"/>
              <a:r>
                <a:rPr lang="ko-KR" altLang="en-US" dirty="0" err="1">
                  <a:latin typeface="D2Coding" panose="020B0609020101020101" pitchFamily="49" charset="-127"/>
                  <a:ea typeface="D2Coding" panose="020B0609020101020101" pitchFamily="49" charset="-127"/>
                </a:rPr>
                <a:t>Robot</a:t>
              </a:r>
              <a:endParaRPr lang="ko-KR" altLang="en-US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15B74BE-D81E-A22E-DC50-177494501824}"/>
                </a:ext>
              </a:extLst>
            </p:cNvPr>
            <p:cNvSpPr txBox="1"/>
            <p:nvPr/>
          </p:nvSpPr>
          <p:spPr>
            <a:xfrm>
              <a:off x="1262062" y="2523173"/>
              <a:ext cx="41243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[</a:t>
              </a:r>
              <a:r>
                <a:rPr lang="ko-KR" altLang="en-US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핵심 구조</a:t>
              </a:r>
              <a:r>
                <a:rPr lang="en-US" altLang="ko-KR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(RT-2)]</a:t>
              </a:r>
              <a:endPara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125BC08-13EF-A216-DCDA-F288E5937B37}"/>
              </a:ext>
            </a:extLst>
          </p:cNvPr>
          <p:cNvSpPr txBox="1"/>
          <p:nvPr/>
        </p:nvSpPr>
        <p:spPr>
          <a:xfrm>
            <a:off x="6096000" y="3217218"/>
            <a:ext cx="5562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ko-KR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VLA의</a:t>
            </a:r>
            <a:r>
              <a:rPr lang="ko-KR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핵심 특징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웹 규모 사전학습 지식을 로봇 제어에 전이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새로운 물체와 지시사항에 대한 일반화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이미지와 언어를 함께 해석하여 행동 결정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행동을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연속값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또는 액션 토큰으로 출력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촉각·힘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정보까지 포함하면 접촉 작업으로 확장 가능</a:t>
            </a:r>
          </a:p>
        </p:txBody>
      </p:sp>
    </p:spTree>
    <p:extLst>
      <p:ext uri="{BB962C8B-B14F-4D97-AF65-F5344CB8AC3E}">
        <p14:creationId xmlns:p14="http://schemas.microsoft.com/office/powerpoint/2010/main" val="2173981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813</TotalTime>
  <Words>887</Words>
  <Application>Microsoft Office PowerPoint</Application>
  <PresentationFormat>와이드스크린</PresentationFormat>
  <Paragraphs>148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Arial</vt:lpstr>
      <vt:lpstr>맑은 고딕</vt:lpstr>
      <vt:lpstr>Noto Sans KR</vt:lpstr>
      <vt:lpstr>D2Coding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허지윤</dc:creator>
  <cp:lastModifiedBy>jiyoon heo</cp:lastModifiedBy>
  <cp:revision>14</cp:revision>
  <dcterms:created xsi:type="dcterms:W3CDTF">2026-05-06T05:51:18Z</dcterms:created>
  <dcterms:modified xsi:type="dcterms:W3CDTF">2026-10-04T08:31:13Z</dcterms:modified>
</cp:coreProperties>
</file>